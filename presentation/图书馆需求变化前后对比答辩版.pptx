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3A"/>
          </a:solidFill>
          <a:ln>
            <a:solidFill>
              <a:srgbClr val="14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66928"/>
            <a:ext cx="5943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8FE4D7"/>
                </a:solidFill>
                <a:latin typeface="Microsoft YaHei"/>
              </a:rPr>
              <a:t>LIBRARY ATLAS  /  DELIVERY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7589520" cy="12070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图书馆管理系统
五项需求变化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97480"/>
            <a:ext cx="6400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0">
                <a:solidFill>
                  <a:srgbClr val="D4E1E2"/>
                </a:solidFill>
                <a:latin typeface="Microsoft YaHei"/>
              </a:rPr>
              <a:t>实现成果与前后对比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4944" y="3346704"/>
            <a:ext cx="4078224" cy="0"/>
          </a:xfrm>
          <a:prstGeom prst="line">
            <a:avLst/>
          </a:prstGeom>
          <a:ln w="25400">
            <a:solidFill>
              <a:srgbClr val="16A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94944" y="3547872"/>
            <a:ext cx="6400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B8C7CA"/>
                </a:solidFill>
                <a:latin typeface="Microsoft YaHei"/>
              </a:rPr>
              <a:t>真实截图 · 黑盒验收 · 提交证据 · 边界说明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115568"/>
            <a:ext cx="3145536" cy="4169663"/>
          </a:xfrm>
          <a:prstGeom prst="roundRect">
            <a:avLst>
              <a:gd name="adj" fmla="val 8000"/>
            </a:avLst>
          </a:prstGeom>
          <a:solidFill>
            <a:srgbClr val="1E3B4A"/>
          </a:solidFill>
          <a:ln>
            <a:solidFill>
              <a:srgbClr val="356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22208" y="1554480"/>
            <a:ext cx="228600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7600" b="1">
                <a:solidFill>
                  <a:srgbClr val="8FE4D7"/>
                </a:solidFill>
                <a:latin typeface="Microsoft YaHei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761488"/>
            <a:ext cx="22402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300" b="1">
                <a:solidFill>
                  <a:srgbClr val="FFFFFF"/>
                </a:solidFill>
                <a:latin typeface="Microsoft YaHei"/>
              </a:rPr>
              <a:t>项需求
连续交付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4014215"/>
            <a:ext cx="1627632" cy="274320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4041648"/>
            <a:ext cx="16276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T1 → T5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736592"/>
            <a:ext cx="2148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B8C7CA"/>
                </a:solidFill>
                <a:latin typeface="Microsoft YaHei"/>
              </a:rPr>
              <a:t>2026.07  ·  答辩版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10160">
            <a:solidFill>
              <a:srgbClr val="466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5216" y="6565392"/>
            <a:ext cx="4572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A9BDC1"/>
                </a:solidFill>
                <a:latin typeface="Microsoft YaHei"/>
              </a:rPr>
              <a:t>图书馆管理系统 · 五项需求变化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A9BDC1"/>
                </a:solidFill>
                <a:latin typeface="Microsoft YaHei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A394"/>
                </a:solidFill>
                <a:latin typeface="Microsoft YaHei"/>
              </a:rPr>
              <a:t>01 /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42B3A"/>
                </a:solidFill>
                <a:latin typeface="Microsoft YaHei"/>
              </a:rPr>
              <a:t>项目与问题：从“能用”走向“可验证”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A7A83"/>
                </a:solidFill>
                <a:latin typeface="Microsoft YaHei"/>
              </a:rPr>
              <a:t>五项变化共同指向同一个目标：把关键业务从页面行为，收敛为可追踪的系统能力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3675887" cy="4251960"/>
          </a:xfrm>
          <a:prstGeom prst="roundRect">
            <a:avLst>
              <a:gd name="adj" fmla="val 8000"/>
            </a:avLst>
          </a:prstGeom>
          <a:solidFill>
            <a:srgbClr val="142B3A"/>
          </a:solidFill>
          <a:ln>
            <a:solidFill>
              <a:srgbClr val="14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57400"/>
            <a:ext cx="2926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改造前的典型断点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" y="2734056"/>
            <a:ext cx="73152" cy="73152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651760"/>
            <a:ext cx="27889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D4E1E2"/>
                </a:solidFill>
                <a:latin typeface="Microsoft YaHei"/>
              </a:rPr>
              <a:t>库存只有可借 / 不可借，无法表达馆藏规模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" y="3355848"/>
            <a:ext cx="73152" cy="73152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3273552"/>
            <a:ext cx="27889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D4E1E2"/>
                </a:solidFill>
                <a:latin typeface="Microsoft YaHei"/>
              </a:rPr>
              <a:t>前端连续写多个接口，失败时容易留下半成品状态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" y="3977639"/>
            <a:ext cx="73152" cy="73152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895344"/>
            <a:ext cx="27889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D4E1E2"/>
                </a:solidFill>
                <a:latin typeface="Microsoft YaHei"/>
              </a:rPr>
              <a:t>逾期、续借、删除约束分散在页面和旧接口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" y="4599431"/>
            <a:ext cx="73152" cy="73152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4517136"/>
            <a:ext cx="278892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D4E1E2"/>
                </a:solidFill>
                <a:latin typeface="Microsoft YaHei"/>
              </a:rPr>
              <a:t>视觉页面不统一，核心信息层级不稳定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35424" y="1737360"/>
            <a:ext cx="708660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8" y="2057400"/>
            <a:ext cx="3931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42B3A"/>
                </a:solidFill>
                <a:latin typeface="Microsoft YaHei"/>
              </a:rPr>
              <a:t>本次交付的验证闭环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64608" y="2834640"/>
            <a:ext cx="1170432" cy="969264"/>
          </a:xfrm>
          <a:prstGeom prst="roundRect">
            <a:avLst>
              <a:gd name="adj" fmla="val 8000"/>
            </a:avLst>
          </a:prstGeom>
          <a:solidFill>
            <a:srgbClr val="E5F4F1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8" y="3008376"/>
            <a:ext cx="11704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0D716A"/>
                </a:solidFill>
                <a:latin typeface="Microsoft YaHei"/>
              </a:rPr>
              <a:t>需求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3346704"/>
            <a:ext cx="11704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3333D"/>
                </a:solidFill>
                <a:latin typeface="Microsoft YaHei"/>
              </a:rPr>
              <a:t>5 个变化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53328" y="3319272"/>
            <a:ext cx="301752" cy="0"/>
          </a:xfrm>
          <a:prstGeom prst="line">
            <a:avLst/>
          </a:prstGeom>
          <a:ln w="19050">
            <a:solidFill>
              <a:srgbClr val="16A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464808" y="2834640"/>
            <a:ext cx="1170432" cy="969264"/>
          </a:xfrm>
          <a:prstGeom prst="roundRect">
            <a:avLst>
              <a:gd name="adj" fmla="val 8000"/>
            </a:avLst>
          </a:prstGeom>
          <a:solidFill>
            <a:srgbClr val="E5F4F1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3008376"/>
            <a:ext cx="11704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0D716A"/>
                </a:solidFill>
                <a:latin typeface="Microsoft YaHei"/>
              </a:rPr>
              <a:t>实现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346704"/>
            <a:ext cx="11704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3333D"/>
                </a:solidFill>
                <a:latin typeface="Microsoft YaHei"/>
              </a:rPr>
              <a:t>T1–T5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53528" y="3319272"/>
            <a:ext cx="301751" cy="0"/>
          </a:xfrm>
          <a:prstGeom prst="line">
            <a:avLst/>
          </a:prstGeom>
          <a:ln w="19050">
            <a:solidFill>
              <a:srgbClr val="16A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065008" y="2834640"/>
            <a:ext cx="1170432" cy="969264"/>
          </a:xfrm>
          <a:prstGeom prst="roundRect">
            <a:avLst>
              <a:gd name="adj" fmla="val 8000"/>
            </a:avLst>
          </a:prstGeom>
          <a:solidFill>
            <a:srgbClr val="E5F4F1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8" y="3008376"/>
            <a:ext cx="11704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0D716A"/>
                </a:solidFill>
                <a:latin typeface="Microsoft YaHei"/>
              </a:rPr>
              <a:t>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3346704"/>
            <a:ext cx="11704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3333D"/>
                </a:solidFill>
                <a:latin typeface="Microsoft YaHei"/>
              </a:rPr>
              <a:t>HTTP 黑盒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53728" y="3319272"/>
            <a:ext cx="301752" cy="0"/>
          </a:xfrm>
          <a:prstGeom prst="line">
            <a:avLst/>
          </a:prstGeom>
          <a:ln w="19050">
            <a:solidFill>
              <a:srgbClr val="16A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65208" y="2834640"/>
            <a:ext cx="1170432" cy="969264"/>
          </a:xfrm>
          <a:prstGeom prst="roundRect">
            <a:avLst>
              <a:gd name="adj" fmla="val 8000"/>
            </a:avLst>
          </a:prstGeom>
          <a:solidFill>
            <a:srgbClr val="FFF0E7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65208" y="3008376"/>
            <a:ext cx="11704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E47B45"/>
                </a:solidFill>
                <a:latin typeface="Microsoft YaHei"/>
              </a:rPr>
              <a:t>呈现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65208" y="3346704"/>
            <a:ext cx="11704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3333D"/>
                </a:solidFill>
                <a:latin typeface="Microsoft YaHei"/>
              </a:rPr>
              <a:t>真实截图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4608" y="4343400"/>
            <a:ext cx="1097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A7A83"/>
                </a:solidFill>
                <a:latin typeface="Microsoft YaHei"/>
              </a:rPr>
              <a:t>交付口径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64608" y="4663440"/>
            <a:ext cx="60807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23333D"/>
                </a:solidFill>
                <a:latin typeface="Microsoft YaHei"/>
              </a:rPr>
              <a:t>不把“代码已写”当作“能力已完成”——以验收记录、黑盒结果和运行截图共同作证。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10160">
            <a:solidFill>
              <a:srgbClr val="DC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85216" y="6565392"/>
            <a:ext cx="4572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A7A83"/>
                </a:solidFill>
                <a:latin typeface="Microsoft YaHei"/>
              </a:rPr>
              <a:t>图书馆管理系统 · 五项需求变化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3564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A7A83"/>
                </a:solidFill>
                <a:latin typeface="Microsoft YaHe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A394"/>
                </a:solidFill>
                <a:latin typeface="Microsoft YaHei"/>
              </a:rPr>
              <a:t>02 / FIVE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42B3A"/>
                </a:solidFill>
                <a:latin typeface="Microsoft YaHei"/>
              </a:rPr>
              <a:t>五项需求总览：业务规则、数据约束与体验同时收口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55648"/>
            <a:ext cx="3493008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755648"/>
            <a:ext cx="109728" cy="1481328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75104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6A394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938528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42B3A"/>
                </a:solidFill>
                <a:latin typeface="Microsoft YaHei"/>
              </a:rPr>
              <a:t>库存数量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31720"/>
            <a:ext cx="2331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A7A83"/>
                </a:solidFill>
                <a:latin typeface="Microsoft YaHei"/>
              </a:rPr>
              <a:t>totalCount / availableCount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816352"/>
            <a:ext cx="28803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3333D"/>
                </a:solidFill>
                <a:latin typeface="Microsoft YaHei"/>
              </a:rPr>
              <a:t>库存从状态升级为可核对数量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755648"/>
            <a:ext cx="3493008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109728" cy="1481328"/>
          </a:xfrm>
          <a:prstGeom prst="roundRect">
            <a:avLst>
              <a:gd name="adj" fmla="val 8000"/>
            </a:avLst>
          </a:prstGeom>
          <a:solidFill>
            <a:srgbClr val="E47B45"/>
          </a:solidFill>
          <a:ln>
            <a:solidFill>
              <a:srgbClr val="E47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975104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E47B45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938528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42B3A"/>
                </a:solidFill>
                <a:latin typeface="Microsoft YaHei"/>
              </a:rPr>
              <a:t>逾期管理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331720"/>
            <a:ext cx="2331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A7A83"/>
                </a:solidFill>
                <a:latin typeface="Microsoft YaHei"/>
              </a:rPr>
              <a:t>dueStatus / overdueDays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816352"/>
            <a:ext cx="28803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3333D"/>
                </a:solidFill>
                <a:latin typeface="Microsoft YaHei"/>
              </a:rPr>
              <a:t>应还日期与借阅限制后端判定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755648"/>
            <a:ext cx="3493008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47888" y="1755648"/>
            <a:ext cx="109728" cy="1481328"/>
          </a:xfrm>
          <a:prstGeom prst="roundRect">
            <a:avLst>
              <a:gd name="adj" fmla="val 8000"/>
            </a:avLst>
          </a:prstGeom>
          <a:solidFill>
            <a:srgbClr val="142B3A"/>
          </a:solidFill>
          <a:ln>
            <a:solidFill>
              <a:srgbClr val="14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1975104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42B3A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938528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42B3A"/>
                </a:solidFill>
                <a:latin typeface="Microsoft YaHei"/>
              </a:rPr>
              <a:t>流程后端化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331720"/>
            <a:ext cx="2331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A7A83"/>
                </a:solidFill>
                <a:latin typeface="Microsoft YaHei"/>
              </a:rPr>
              <a:t>/circulation/*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2816352"/>
            <a:ext cx="28803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3333D"/>
                </a:solidFill>
                <a:latin typeface="Microsoft YaHei"/>
              </a:rPr>
              <a:t>借还续一次业务写请求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630168"/>
            <a:ext cx="3493008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6928" y="3630168"/>
            <a:ext cx="109728" cy="1481328"/>
          </a:xfrm>
          <a:prstGeom prst="roundRect">
            <a:avLst>
              <a:gd name="adj" fmla="val 8000"/>
            </a:avLst>
          </a:prstGeom>
          <a:solidFill>
            <a:srgbClr val="D95D5D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3849624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D95D5D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813048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42B3A"/>
                </a:solidFill>
                <a:latin typeface="Microsoft YaHei"/>
              </a:rPr>
              <a:t>用户管理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206240"/>
            <a:ext cx="2331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A7A83"/>
                </a:solidFill>
                <a:latin typeface="Microsoft YaHei"/>
              </a:rPr>
              <a:t>POST /user · DELETE /user/{id}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4690872"/>
            <a:ext cx="28803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3333D"/>
                </a:solidFill>
                <a:latin typeface="Microsoft YaHei"/>
              </a:rPr>
              <a:t>新增 / 删除有权限与借阅边界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07408" y="3630168"/>
            <a:ext cx="3493008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07408" y="3630168"/>
            <a:ext cx="109728" cy="1481328"/>
          </a:xfrm>
          <a:prstGeom prst="roundRect">
            <a:avLst>
              <a:gd name="adj" fmla="val 8000"/>
            </a:avLst>
          </a:prstGeom>
          <a:solidFill>
            <a:srgbClr val="6C6DE5"/>
          </a:solidFill>
          <a:ln>
            <a:solidFill>
              <a:srgbClr val="6C6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3849624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6C6DE5"/>
                </a:solidFill>
                <a:latin typeface="Microsoft YaHe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3813048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42B3A"/>
                </a:solidFill>
                <a:latin typeface="Microsoft YaHei"/>
              </a:rPr>
              <a:t>视觉改造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4206240"/>
            <a:ext cx="23317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A7A83"/>
                </a:solidFill>
                <a:latin typeface="Microsoft YaHei"/>
              </a:rPr>
              <a:t>Library Atlas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1728" y="4690872"/>
            <a:ext cx="28803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3333D"/>
                </a:solidFill>
                <a:latin typeface="Microsoft YaHei"/>
              </a:rPr>
              <a:t>统一导航、卡片、表格与反馈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760720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0D716A"/>
                </a:solidFill>
                <a:latin typeface="Microsoft YaHei"/>
              </a:rPr>
              <a:t>五项需求不是五个孤岛：库存、逾期、用户约束最终都通过统一流程与页面呈现被验证。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10160">
            <a:solidFill>
              <a:srgbClr val="DC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85216" y="6565392"/>
            <a:ext cx="4572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A7A83"/>
                </a:solidFill>
                <a:latin typeface="Microsoft YaHei"/>
              </a:rPr>
              <a:t>图书馆管理系统 · 五项需求变化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3564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A7A83"/>
                </a:solidFill>
                <a:latin typeface="Microsoft YaHe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A394"/>
                </a:solidFill>
                <a:latin typeface="Microsoft YaHei"/>
              </a:rPr>
              <a:t>03 / REQUIREMENT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42B3A"/>
                </a:solidFill>
                <a:latin typeface="Microsoft YaHei"/>
              </a:rPr>
              <a:t>需求 3：借书、还书、续借流程后端化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A7A83"/>
                </a:solidFill>
                <a:latin typeface="Microsoft YaHei"/>
              </a:rPr>
              <a:t>前端只提交读者与图书标识；后端在一个事务内完成校验、日期、库存与三表更新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1106424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2514600"/>
            <a:ext cx="1993392" cy="1325880"/>
          </a:xfrm>
          <a:prstGeom prst="roundRect">
            <a:avLst>
              <a:gd name="adj" fmla="val 8000"/>
            </a:avLst>
          </a:prstGeom>
          <a:solidFill>
            <a:srgbClr val="FFF0E7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761488"/>
            <a:ext cx="18105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E47B45"/>
                </a:solidFill>
                <a:latin typeface="Microsoft YaHei"/>
              </a:rPr>
              <a:t>页面点击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154680"/>
            <a:ext cx="181051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23333D"/>
                </a:solidFill>
                <a:latin typeface="Microsoft YaHei"/>
              </a:rPr>
              <a:t>readerId + isbn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44368" y="3172968"/>
            <a:ext cx="365760" cy="0"/>
          </a:xfrm>
          <a:prstGeom prst="line">
            <a:avLst/>
          </a:prstGeom>
          <a:ln w="25400">
            <a:solidFill>
              <a:srgbClr val="E47B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37560" y="2514600"/>
            <a:ext cx="1993392" cy="1325880"/>
          </a:xfrm>
          <a:prstGeom prst="roundRect">
            <a:avLst>
              <a:gd name="adj" fmla="val 8000"/>
            </a:avLst>
          </a:prstGeom>
          <a:solidFill>
            <a:srgbClr val="E5F4F1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761488"/>
            <a:ext cx="18105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6A394"/>
                </a:solidFill>
                <a:latin typeface="Microsoft YaHei"/>
              </a:rPr>
              <a:t>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154680"/>
            <a:ext cx="181051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23333D"/>
                </a:solidFill>
                <a:latin typeface="Microsoft YaHei"/>
              </a:rPr>
              <a:t>/circulation/*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49240" y="3172968"/>
            <a:ext cx="365760" cy="0"/>
          </a:xfrm>
          <a:prstGeom prst="line">
            <a:avLst/>
          </a:prstGeom>
          <a:ln w="25400">
            <a:solidFill>
              <a:srgbClr val="16A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760720" y="2514600"/>
            <a:ext cx="1993392" cy="1325880"/>
          </a:xfrm>
          <a:prstGeom prst="roundRect">
            <a:avLst>
              <a:gd name="adj" fmla="val 8000"/>
            </a:avLst>
          </a:prstGeom>
          <a:solidFill>
            <a:srgbClr val="E8ECF7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59" y="2761488"/>
            <a:ext cx="18105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5864C7"/>
                </a:solidFill>
                <a:latin typeface="Microsoft YaHei"/>
              </a:rPr>
              <a:t>CirculationService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9" y="3154680"/>
            <a:ext cx="181051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23333D"/>
                </a:solidFill>
                <a:latin typeface="Microsoft YaHei"/>
              </a:rPr>
              <a:t>@Transactional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0" y="3172968"/>
            <a:ext cx="365760" cy="0"/>
          </a:xfrm>
          <a:prstGeom prst="line">
            <a:avLst/>
          </a:prstGeom>
          <a:ln w="25400">
            <a:solidFill>
              <a:srgbClr val="586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39327" y="2514600"/>
            <a:ext cx="1993392" cy="1325880"/>
          </a:xfrm>
          <a:prstGeom prst="roundRect">
            <a:avLst>
              <a:gd name="adj" fmla="val 8000"/>
            </a:avLst>
          </a:prstGeom>
          <a:solidFill>
            <a:srgbClr val="E5F4F1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0767" y="2761488"/>
            <a:ext cx="18105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6A394"/>
                </a:solidFill>
                <a:latin typeface="Microsoft YaHei"/>
              </a:rPr>
              <a:t>三张表一致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7" y="3154680"/>
            <a:ext cx="1810512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23333D"/>
                </a:solidFill>
                <a:latin typeface="Microsoft YaHei"/>
              </a:rPr>
              <a:t>book · current ·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4352544"/>
            <a:ext cx="10972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6A7A83"/>
                </a:solidFill>
                <a:latin typeface="Microsoft YaHei"/>
              </a:rPr>
              <a:t>借书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315968"/>
            <a:ext cx="4617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3333D"/>
                </a:solidFill>
                <a:latin typeface="Microsoft YaHei"/>
              </a:rPr>
              <a:t>库存不足 / 逾期限制 / 重复借阅 → 失败时数据不变化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7184" y="4352544"/>
            <a:ext cx="10972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6A7A83"/>
                </a:solidFill>
                <a:latin typeface="Microsoft YaHei"/>
              </a:rPr>
              <a:t>还书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4315968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3333D"/>
                </a:solidFill>
                <a:latin typeface="Microsoft YaHei"/>
              </a:rPr>
              <a:t>恢复库存 · 删除当前借阅 · 更新历史记录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486400"/>
            <a:ext cx="22402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5486400"/>
            <a:ext cx="73152" cy="960120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5641848"/>
            <a:ext cx="1965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B3A"/>
                </a:solidFill>
                <a:latin typeface="Microsoft YaHe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6099048"/>
            <a:ext cx="1965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A7A83"/>
                </a:solidFill>
                <a:latin typeface="Microsoft YaHei"/>
              </a:rPr>
              <a:t>业务接口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81528" y="5486400"/>
            <a:ext cx="22402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081528" y="5486400"/>
            <a:ext cx="73152" cy="960120"/>
          </a:xfrm>
          <a:prstGeom prst="roundRect">
            <a:avLst>
              <a:gd name="adj" fmla="val 8000"/>
            </a:avLst>
          </a:prstGeom>
          <a:solidFill>
            <a:srgbClr val="E47B45"/>
          </a:solidFill>
          <a:ln>
            <a:solidFill>
              <a:srgbClr val="E47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82696" y="5641848"/>
            <a:ext cx="1965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B3A"/>
                </a:solidFill>
                <a:latin typeface="Microsoft YaHe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82696" y="6099048"/>
            <a:ext cx="1965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A7A83"/>
                </a:solidFill>
                <a:latin typeface="Microsoft YaHei"/>
              </a:rPr>
              <a:t>页面一次写请求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04688" y="5486400"/>
            <a:ext cx="22402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504688" y="5486400"/>
            <a:ext cx="73152" cy="960120"/>
          </a:xfrm>
          <a:prstGeom prst="roundRect">
            <a:avLst>
              <a:gd name="adj" fmla="val 8000"/>
            </a:avLst>
          </a:prstGeom>
          <a:solidFill>
            <a:srgbClr val="142B3A"/>
          </a:solidFill>
          <a:ln>
            <a:solidFill>
              <a:srgbClr val="14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05855" y="5641848"/>
            <a:ext cx="1965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B3A"/>
                </a:solidFill>
                <a:latin typeface="Microsoft YaHei"/>
              </a:rPr>
              <a:t>6/6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05855" y="6099048"/>
            <a:ext cx="1965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A7A83"/>
                </a:solidFill>
                <a:latin typeface="Microsoft YaHei"/>
              </a:rPr>
              <a:t>借还续黑盒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27848" y="5486400"/>
            <a:ext cx="320040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927848" y="5486400"/>
            <a:ext cx="73152" cy="960120"/>
          </a:xfrm>
          <a:prstGeom prst="roundRect">
            <a:avLst>
              <a:gd name="adj" fmla="val 8000"/>
            </a:avLst>
          </a:prstGeom>
          <a:solidFill>
            <a:srgbClr val="D95D5D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29016" y="5641848"/>
            <a:ext cx="29260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B3A"/>
                </a:solidFill>
                <a:latin typeface="Microsoft YaHei"/>
              </a:rPr>
              <a:t>PASS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29016" y="6099048"/>
            <a:ext cx="2926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A7A83"/>
                </a:solidFill>
                <a:latin typeface="Microsoft YaHei"/>
              </a:rPr>
              <a:t>失败路径数据不变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10160">
            <a:solidFill>
              <a:srgbClr val="DC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5216" y="6565392"/>
            <a:ext cx="4572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A7A83"/>
                </a:solidFill>
                <a:latin typeface="Microsoft YaHei"/>
              </a:rPr>
              <a:t>图书馆管理系统 · 五项需求变化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3564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A7A83"/>
                </a:solidFill>
                <a:latin typeface="Microsoft YaHe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A394"/>
                </a:solidFill>
                <a:latin typeface="Microsoft YaHei"/>
              </a:rPr>
              <a:t>04 / REQUIREMENT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42B3A"/>
                </a:solidFill>
                <a:latin typeface="Microsoft YaHei"/>
              </a:rPr>
              <a:t>需求 1：库存从“状态”升级为“数量链路”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A7A83"/>
                </a:solidFill>
                <a:latin typeface="Microsoft YaHei"/>
              </a:rPr>
              <a:t>页面展示与数据库约束共用同一套口径：馆藏总数、可借数量、已借出数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19072"/>
            <a:ext cx="658368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011680"/>
            <a:ext cx="31089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42B3A"/>
                </a:solidFill>
                <a:latin typeface="Microsoft YaHei"/>
              </a:rPr>
              <a:t>一次借书如何改变数据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70048"/>
            <a:ext cx="1572768" cy="1298448"/>
          </a:xfrm>
          <a:prstGeom prst="roundRect">
            <a:avLst>
              <a:gd name="adj" fmla="val 8000"/>
            </a:avLst>
          </a:prstGeom>
          <a:solidFill>
            <a:srgbClr val="E5F4F1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62072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D716A"/>
                </a:solidFill>
                <a:latin typeface="Microsoft YaHei"/>
              </a:rPr>
              <a:t>借前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27832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3333D"/>
                </a:solidFill>
                <a:latin typeface="Microsoft YaHei"/>
              </a:rPr>
              <a:t>总数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9584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A7A83"/>
                </a:solidFill>
                <a:latin typeface="Microsoft YaHei"/>
              </a:rPr>
              <a:t>可借 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05456" y="3310128"/>
            <a:ext cx="237744" cy="0"/>
          </a:xfrm>
          <a:prstGeom prst="line">
            <a:avLst/>
          </a:prstGeom>
          <a:ln w="20320">
            <a:solidFill>
              <a:srgbClr val="16A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52928" y="2670048"/>
            <a:ext cx="1572768" cy="1298448"/>
          </a:xfrm>
          <a:prstGeom prst="roundRect">
            <a:avLst>
              <a:gd name="adj" fmla="val 8000"/>
            </a:avLst>
          </a:prstGeom>
          <a:solidFill>
            <a:srgbClr val="FFF0E7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2928" y="2862072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E47B45"/>
                </a:solidFill>
                <a:latin typeface="Microsoft YaHei"/>
              </a:rPr>
              <a:t>借书成功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3227832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3333D"/>
                </a:solidFill>
                <a:latin typeface="Microsoft YaHei"/>
              </a:rPr>
              <a:t>库存 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3529584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A7A83"/>
                </a:solidFill>
                <a:latin typeface="Microsoft YaHei"/>
              </a:rPr>
              <a:t>当前借阅 +1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43984" y="3310128"/>
            <a:ext cx="237744" cy="0"/>
          </a:xfrm>
          <a:prstGeom prst="line">
            <a:avLst/>
          </a:prstGeom>
          <a:ln w="20320">
            <a:solidFill>
              <a:srgbClr val="16A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791456" y="2670048"/>
            <a:ext cx="1572768" cy="1298448"/>
          </a:xfrm>
          <a:prstGeom prst="roundRect">
            <a:avLst>
              <a:gd name="adj" fmla="val 8000"/>
            </a:avLst>
          </a:prstGeom>
          <a:solidFill>
            <a:srgbClr val="FCE9E7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91456" y="2862072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D95D5D"/>
                </a:solidFill>
                <a:latin typeface="Microsoft YaHei"/>
              </a:rPr>
              <a:t>借后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56" y="3227832"/>
            <a:ext cx="157276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3333D"/>
                </a:solidFill>
                <a:latin typeface="Microsoft YaHei"/>
              </a:rPr>
              <a:t>总数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91456" y="3529584"/>
            <a:ext cx="157276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A7A83"/>
                </a:solidFill>
                <a:latin typeface="Microsoft YaHei"/>
              </a:rPr>
              <a:t>可借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43984"/>
            <a:ext cx="10972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A7A83"/>
                </a:solidFill>
                <a:latin typeface="Microsoft YaHei"/>
              </a:rPr>
              <a:t>后端约束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837176"/>
            <a:ext cx="73152" cy="73152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754880"/>
            <a:ext cx="5532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3333D"/>
                </a:solidFill>
                <a:latin typeface="Microsoft YaHei"/>
              </a:rPr>
              <a:t>新增：totalCount 必须为正整数，availableCount 由后端初始化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184648"/>
            <a:ext cx="73152" cy="73152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102352"/>
            <a:ext cx="5532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3333D"/>
                </a:solidFill>
                <a:latin typeface="Microsoft YaHei"/>
              </a:rPr>
              <a:t>编辑：总数不得小于当前已借出数，行锁串行化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532120"/>
            <a:ext cx="73152" cy="73152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449824"/>
            <a:ext cx="5532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3333D"/>
                </a:solidFill>
                <a:latin typeface="Microsoft YaHei"/>
              </a:rPr>
              <a:t>并发：同一读者重复借阅一成一败，库存不穿透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1719072"/>
            <a:ext cx="4224528" cy="4297680"/>
          </a:xfrm>
          <a:prstGeom prst="roundRect">
            <a:avLst>
              <a:gd name="adj" fmla="val 8000"/>
            </a:avLst>
          </a:prstGeom>
          <a:solidFill>
            <a:srgbClr val="142B3A"/>
          </a:solidFill>
          <a:ln>
            <a:solidFill>
              <a:srgbClr val="14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2" y="2029968"/>
            <a:ext cx="1828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8FE4D7"/>
                </a:solidFill>
                <a:latin typeface="Microsoft YaHei"/>
              </a:rPr>
              <a:t>真实验收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2450592"/>
            <a:ext cx="20116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9/9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90688" y="3182112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D4E1E2"/>
                </a:solidFill>
                <a:latin typeface="Microsoft YaHei"/>
              </a:rPr>
              <a:t>库存黑盒全部通过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54112" y="3813048"/>
            <a:ext cx="2240280" cy="274320"/>
          </a:xfrm>
          <a:prstGeom prst="roundRect">
            <a:avLst>
              <a:gd name="adj" fmla="val 8000"/>
            </a:avLst>
          </a:prstGeom>
          <a:solidFill>
            <a:srgbClr val="E47B45"/>
          </a:solidFill>
          <a:ln>
            <a:solidFill>
              <a:srgbClr val="E47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54112" y="3840480"/>
            <a:ext cx="2240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库存为 0 拒绝借阅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54112" y="4233672"/>
            <a:ext cx="1691640" cy="274320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54112" y="4261104"/>
            <a:ext cx="1691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刷新后仍正确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2" y="4901184"/>
            <a:ext cx="31546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B8C7CA"/>
                </a:solidFill>
                <a:latin typeface="Microsoft YaHei"/>
              </a:rPr>
              <a:t>证据：acceptance/需求1-库存数量验收.md
与 verify_inventory_http.py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10160">
            <a:solidFill>
              <a:srgbClr val="DC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85216" y="6565392"/>
            <a:ext cx="4572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A7A83"/>
                </a:solidFill>
                <a:latin typeface="Microsoft YaHei"/>
              </a:rPr>
              <a:t>图书馆管理系统 · 五项需求变化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3564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A7A83"/>
                </a:solidFill>
                <a:latin typeface="Microsoft YaHe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A394"/>
                </a:solidFill>
                <a:latin typeface="Microsoft YaHei"/>
              </a:rPr>
              <a:t>05 / REQUIREMENT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42B3A"/>
                </a:solidFill>
                <a:latin typeface="Microsoft YaHei"/>
              </a:rPr>
              <a:t>需求 2：逾期状态成为可执行的借阅规则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A7A83"/>
                </a:solidFill>
                <a:latin typeface="Microsoft YaHei"/>
              </a:rPr>
              <a:t>后端以 Asia/Shanghai 计算自然日边界；状态、天数与限制提示同时返回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55648"/>
            <a:ext cx="6583680" cy="4187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011680"/>
            <a:ext cx="1097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42B3A"/>
                </a:solidFill>
                <a:latin typeface="Microsoft YaHei"/>
              </a:rPr>
              <a:t>状态机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697480"/>
            <a:ext cx="1627632" cy="1078992"/>
          </a:xfrm>
          <a:prstGeom prst="roundRect">
            <a:avLst>
              <a:gd name="adj" fmla="val 8000"/>
            </a:avLst>
          </a:prstGeom>
          <a:solidFill>
            <a:srgbClr val="E5F4F1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907792"/>
            <a:ext cx="162763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6A394"/>
                </a:solidFill>
                <a:latin typeface="Microsoft YaHei"/>
              </a:rPr>
              <a:t>NORMAL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264408"/>
            <a:ext cx="16276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23333D"/>
                </a:solidFill>
                <a:latin typeface="Microsoft YaHei"/>
              </a:rPr>
              <a:t>距应还日 &gt; 3 天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78608" y="3236976"/>
            <a:ext cx="201168" cy="0"/>
          </a:xfrm>
          <a:prstGeom prst="line">
            <a:avLst/>
          </a:prstGeom>
          <a:ln w="22860">
            <a:solidFill>
              <a:srgbClr val="16A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2697480"/>
            <a:ext cx="1627632" cy="1078992"/>
          </a:xfrm>
          <a:prstGeom prst="roundRect">
            <a:avLst>
              <a:gd name="adj" fmla="val 8000"/>
            </a:avLst>
          </a:prstGeom>
          <a:solidFill>
            <a:srgbClr val="FFF0E7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2907792"/>
            <a:ext cx="162763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E47B45"/>
                </a:solidFill>
                <a:latin typeface="Microsoft YaHei"/>
              </a:rPr>
              <a:t>DUE_SOON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264408"/>
            <a:ext cx="16276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23333D"/>
                </a:solidFill>
                <a:latin typeface="Microsoft YaHei"/>
              </a:rPr>
              <a:t>0–3 天内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26280" y="3236976"/>
            <a:ext cx="201168" cy="0"/>
          </a:xfrm>
          <a:prstGeom prst="line">
            <a:avLst/>
          </a:prstGeom>
          <a:ln w="22860">
            <a:solidFill>
              <a:srgbClr val="E47B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828031" y="2697480"/>
            <a:ext cx="1627632" cy="1078992"/>
          </a:xfrm>
          <a:prstGeom prst="roundRect">
            <a:avLst>
              <a:gd name="adj" fmla="val 8000"/>
            </a:avLst>
          </a:prstGeom>
          <a:solidFill>
            <a:srgbClr val="FCE9E7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1" y="2907792"/>
            <a:ext cx="1627632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D95D5D"/>
                </a:solidFill>
                <a:latin typeface="Microsoft YaHei"/>
              </a:rPr>
              <a:t>OVERDUE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1" y="3264408"/>
            <a:ext cx="16276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23333D"/>
                </a:solidFill>
                <a:latin typeface="Microsoft YaHei"/>
              </a:rPr>
              <a:t>早于今天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325112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A7A83"/>
                </a:solidFill>
                <a:latin typeface="Microsoft YaHei"/>
              </a:rPr>
              <a:t>逾期后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288536"/>
            <a:ext cx="48920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3333D"/>
                </a:solidFill>
                <a:latin typeface="Microsoft YaHei"/>
              </a:rPr>
              <a:t>借新书 ✕   续借逾期图书 ✕   归还后自动解除限制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965192"/>
            <a:ext cx="56692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D716A"/>
                </a:solidFill>
                <a:latin typeface="Microsoft YaHei"/>
              </a:rPr>
              <a:t>规则可被筛选、纠正、复验，而不是只在页面上显示颜色。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1755648"/>
            <a:ext cx="4224528" cy="4187952"/>
          </a:xfrm>
          <a:prstGeom prst="roundRect">
            <a:avLst>
              <a:gd name="adj" fmla="val 8000"/>
            </a:avLst>
          </a:prstGeom>
          <a:solidFill>
            <a:srgbClr val="142B3A"/>
          </a:solidFill>
          <a:ln>
            <a:solidFill>
              <a:srgbClr val="14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54112" y="205740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8FE4D7"/>
                </a:solidFill>
                <a:latin typeface="Microsoft YaHei"/>
              </a:rPr>
              <a:t>黑盒结果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2468880"/>
            <a:ext cx="21031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6/6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90688" y="3218688"/>
            <a:ext cx="306324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D4E1E2"/>
                </a:solidFill>
                <a:latin typeface="Microsoft YaHei"/>
              </a:rPr>
              <a:t>日期生成 / 状态边界 / 借阅限制
/ 筛选 / 归还解除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54112" y="4041648"/>
            <a:ext cx="1965960" cy="274320"/>
          </a:xfrm>
          <a:prstGeom prst="roundRect">
            <a:avLst>
              <a:gd name="adj" fmla="val 8000"/>
            </a:avLst>
          </a:prstGeom>
          <a:solidFill>
            <a:srgbClr val="D95D5D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2" y="4069080"/>
            <a:ext cx="1965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昨天 = 1 天逾期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54112" y="4462272"/>
            <a:ext cx="2011680" cy="274320"/>
          </a:xfrm>
          <a:prstGeom prst="roundRect">
            <a:avLst>
              <a:gd name="adj" fmla="val 8000"/>
            </a:avLst>
          </a:prstGeom>
          <a:solidFill>
            <a:srgbClr val="E47B45"/>
          </a:solidFill>
          <a:ln>
            <a:solidFill>
              <a:srgbClr val="E47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4112" y="4489704"/>
            <a:ext cx="2011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+3 天 = DUE_SOON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5074920"/>
            <a:ext cx="3154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B8C7CA"/>
                </a:solidFill>
                <a:latin typeface="Microsoft YaHei"/>
              </a:rPr>
              <a:t>证据：acceptance/需求2-逾期管理验收.md
verify_overdue_http.py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10160">
            <a:solidFill>
              <a:srgbClr val="DC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5216" y="6565392"/>
            <a:ext cx="4572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A7A83"/>
                </a:solidFill>
                <a:latin typeface="Microsoft YaHei"/>
              </a:rPr>
              <a:t>图书馆管理系统 · 五项需求变化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A7A83"/>
                </a:solidFill>
                <a:latin typeface="Microsoft YaHe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A394"/>
                </a:solidFill>
                <a:latin typeface="Microsoft YaHei"/>
              </a:rPr>
              <a:t>06 / REQUIREMENT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42B3A"/>
                </a:solidFill>
                <a:latin typeface="Microsoft YaHei"/>
              </a:rPr>
              <a:t>需求 4：用户管理补上“新增—约束—删除”闭环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A7A83"/>
                </a:solidFill>
                <a:latin typeface="Microsoft YaHei"/>
              </a:rPr>
              <a:t>管理员可新增普通读者；有未归还图书时禁止删除，归还后才可完成清理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6675120" cy="4279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029968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42B3A"/>
                </a:solidFill>
                <a:latin typeface="Microsoft YaHei"/>
              </a:rPr>
              <a:t>管理员操作链路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2761488"/>
            <a:ext cx="1280160" cy="1243584"/>
          </a:xfrm>
          <a:prstGeom prst="roundRect">
            <a:avLst>
              <a:gd name="adj" fmla="val 8000"/>
            </a:avLst>
          </a:prstGeom>
          <a:solidFill>
            <a:srgbClr val="E5F4F1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990088"/>
            <a:ext cx="1280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6A394"/>
                </a:solidFill>
                <a:latin typeface="Microsoft YaHei"/>
              </a:rPr>
              <a:t>新增读者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364992"/>
            <a:ext cx="12801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23333D"/>
                </a:solidFill>
                <a:latin typeface="Microsoft YaHei"/>
              </a:rPr>
              <a:t>role=2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4560" y="3383280"/>
            <a:ext cx="164592" cy="0"/>
          </a:xfrm>
          <a:prstGeom prst="line">
            <a:avLst/>
          </a:prstGeom>
          <a:ln w="19050">
            <a:solidFill>
              <a:srgbClr val="16A3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32304" y="2761488"/>
            <a:ext cx="1280160" cy="1243584"/>
          </a:xfrm>
          <a:prstGeom prst="roundRect">
            <a:avLst>
              <a:gd name="adj" fmla="val 8000"/>
            </a:avLst>
          </a:prstGeom>
          <a:solidFill>
            <a:srgbClr val="FFF0E7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2304" y="2990088"/>
            <a:ext cx="1280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E47B45"/>
                </a:solidFill>
                <a:latin typeface="Microsoft YaHei"/>
              </a:rPr>
              <a:t>重复名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2304" y="3364992"/>
            <a:ext cx="12801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23333D"/>
                </a:solidFill>
                <a:latin typeface="Microsoft YaHei"/>
              </a:rPr>
              <a:t>明确拒绝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30752" y="3383280"/>
            <a:ext cx="164592" cy="0"/>
          </a:xfrm>
          <a:prstGeom prst="line">
            <a:avLst/>
          </a:prstGeom>
          <a:ln w="19050">
            <a:solidFill>
              <a:srgbClr val="E47B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968496" y="2761488"/>
            <a:ext cx="1280160" cy="1243584"/>
          </a:xfrm>
          <a:prstGeom prst="roundRect">
            <a:avLst>
              <a:gd name="adj" fmla="val 8000"/>
            </a:avLst>
          </a:prstGeom>
          <a:solidFill>
            <a:srgbClr val="FCE9E7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2990088"/>
            <a:ext cx="1280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D95D5D"/>
                </a:solidFill>
                <a:latin typeface="Microsoft YaHei"/>
              </a:rPr>
              <a:t>有借阅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8496" y="3364992"/>
            <a:ext cx="12801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23333D"/>
                </a:solidFill>
                <a:latin typeface="Microsoft YaHei"/>
              </a:rPr>
              <a:t>禁止删除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266944" y="3383280"/>
            <a:ext cx="164592" cy="0"/>
          </a:xfrm>
          <a:prstGeom prst="line">
            <a:avLst/>
          </a:prstGeom>
          <a:ln w="19050">
            <a:solidFill>
              <a:srgbClr val="D95D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504688" y="2761488"/>
            <a:ext cx="1280160" cy="1243584"/>
          </a:xfrm>
          <a:prstGeom prst="roundRect">
            <a:avLst>
              <a:gd name="adj" fmla="val 8000"/>
            </a:avLst>
          </a:prstGeom>
          <a:solidFill>
            <a:srgbClr val="E5F4F1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04688" y="2990088"/>
            <a:ext cx="12801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D716A"/>
                </a:solidFill>
                <a:latin typeface="Microsoft YaHei"/>
              </a:rPr>
              <a:t>归还后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04688" y="3364992"/>
            <a:ext cx="12801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23333D"/>
                </a:solidFill>
                <a:latin typeface="Microsoft YaHei"/>
              </a:rPr>
              <a:t>删除成功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443984"/>
            <a:ext cx="10972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6A7A83"/>
                </a:solidFill>
                <a:latin typeface="Microsoft YaHei"/>
              </a:rPr>
              <a:t>权限边界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" y="4818888"/>
            <a:ext cx="73152" cy="73152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4736592"/>
            <a:ext cx="55778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3333D"/>
                </a:solidFill>
                <a:latin typeface="Microsoft YaHei"/>
              </a:rPr>
              <a:t>operatorId 对应管理员才可新增 / 删除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" y="5166359"/>
            <a:ext cx="73152" cy="73152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5084064"/>
            <a:ext cx="55778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3333D"/>
                </a:solidFill>
                <a:latin typeface="Microsoft YaHei"/>
              </a:rPr>
              <a:t>管理员目标与批量删除路径明确拒绝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" y="5513831"/>
            <a:ext cx="73152" cy="73152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5431536"/>
            <a:ext cx="557784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3333D"/>
                </a:solidFill>
                <a:latin typeface="Microsoft YaHei"/>
              </a:rPr>
              <a:t>删除前二次确认，失败原因保留在弹窗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1737360"/>
            <a:ext cx="4133087" cy="4279392"/>
          </a:xfrm>
          <a:prstGeom prst="roundRect">
            <a:avLst>
              <a:gd name="adj" fmla="val 8000"/>
            </a:avLst>
          </a:prstGeom>
          <a:solidFill>
            <a:srgbClr val="142B3A"/>
          </a:solidFill>
          <a:ln>
            <a:solidFill>
              <a:srgbClr val="14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08975" y="2029968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8FE4D7"/>
                </a:solidFill>
                <a:latin typeface="Microsoft YaHei"/>
              </a:rPr>
              <a:t>用户黑盒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08975" y="2459736"/>
            <a:ext cx="210312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7/7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5552" y="3200400"/>
            <a:ext cx="3063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D4E1E2"/>
                </a:solidFill>
                <a:latin typeface="Microsoft YaHei"/>
              </a:rPr>
              <a:t>新增可登录 · 重复名拒绝
有借阅禁止删 · 归还后可删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08975" y="4105656"/>
            <a:ext cx="2542032" cy="274320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08975" y="4133088"/>
            <a:ext cx="254203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唯一索引 uk_user_username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08975" y="5074920"/>
            <a:ext cx="3154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B8C7CA"/>
                </a:solidFill>
                <a:latin typeface="Microsoft YaHei"/>
              </a:rPr>
              <a:t>证据：acceptance/需求4-用户管理验收.md
verify_user_management_http.py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10160">
            <a:solidFill>
              <a:srgbClr val="DC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85216" y="6565392"/>
            <a:ext cx="4572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A7A83"/>
                </a:solidFill>
                <a:latin typeface="Microsoft YaHei"/>
              </a:rPr>
              <a:t>图书馆管理系统 · 五项需求变化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3564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A7A83"/>
                </a:solidFill>
                <a:latin typeface="Microsoft YaHe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A394"/>
                </a:solidFill>
                <a:latin typeface="Microsoft YaHei"/>
              </a:rPr>
              <a:t>07 / REQUIREMENT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42B3A"/>
                </a:solidFill>
                <a:latin typeface="Microsoft YaHei"/>
              </a:rPr>
              <a:t>需求 5：视觉改造不是换色，而是建立一套工作台语言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A7A83"/>
                </a:solidFill>
                <a:latin typeface="Microsoft YaHei"/>
              </a:rPr>
              <a:t>Library Atlas：导航、页面头、卡片、表格、弹窗、反馈与窄屏策略统一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3931920" cy="4297680"/>
          </a:xfrm>
          <a:prstGeom prst="roundRect">
            <a:avLst>
              <a:gd name="adj" fmla="val 8000"/>
            </a:avLst>
          </a:prstGeom>
          <a:solidFill>
            <a:srgbClr val="142B3A"/>
          </a:solidFill>
          <a:ln>
            <a:solidFill>
              <a:srgbClr val="14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84831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Library Atlas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834640"/>
            <a:ext cx="2834640" cy="1280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D4E1E2"/>
                </a:solidFill>
                <a:latin typeface="Microsoft YaHei"/>
              </a:rPr>
              <a:t>深墨蓝导航
青绿业务强调
暖灰工作区
低饱和状态色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956048"/>
            <a:ext cx="1325880" cy="274320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983480"/>
            <a:ext cx="13258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统一 tokens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73168" y="1737360"/>
            <a:ext cx="685800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02352" y="2048256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42B3A"/>
                </a:solidFill>
                <a:latin typeface="Microsoft YaHei"/>
              </a:rPr>
              <a:t>四个真实页面作为视觉验收锚点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2352" y="2651760"/>
            <a:ext cx="2761488" cy="1207008"/>
          </a:xfrm>
          <a:prstGeom prst="roundRect">
            <a:avLst>
              <a:gd name="adj" fmla="val 8000"/>
            </a:avLst>
          </a:prstGeom>
          <a:solidFill>
            <a:srgbClr val="F9FBFA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fter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7" y="2761488"/>
            <a:ext cx="1316736" cy="822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12080" y="3639312"/>
            <a:ext cx="2377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A7A83"/>
                </a:solidFill>
                <a:latin typeface="Microsoft YaHei"/>
              </a:rPr>
              <a:t>登录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651760"/>
            <a:ext cx="2761488" cy="1207008"/>
          </a:xfrm>
          <a:prstGeom prst="roundRect">
            <a:avLst>
              <a:gd name="adj" fmla="val 8000"/>
            </a:avLst>
          </a:prstGeom>
          <a:solidFill>
            <a:srgbClr val="F9FBFA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fter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9329" y="2761488"/>
            <a:ext cx="1222028" cy="8229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39327" y="3639312"/>
            <a:ext cx="2377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A7A83"/>
                </a:solidFill>
                <a:latin typeface="Microsoft YaHei"/>
              </a:rPr>
              <a:t>Dashboard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02352" y="4133087"/>
            <a:ext cx="2761488" cy="1207008"/>
          </a:xfrm>
          <a:prstGeom prst="roundRect">
            <a:avLst>
              <a:gd name="adj" fmla="val 8000"/>
            </a:avLst>
          </a:prstGeom>
          <a:solidFill>
            <a:srgbClr val="F9FBFA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fter-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0004" y="4242816"/>
            <a:ext cx="1066182" cy="8229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212080" y="5120640"/>
            <a:ext cx="2377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A7A83"/>
                </a:solidFill>
                <a:latin typeface="Microsoft YaHei"/>
              </a:rPr>
              <a:t>图书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133087"/>
            <a:ext cx="2761488" cy="1207008"/>
          </a:xfrm>
          <a:prstGeom prst="roundRect">
            <a:avLst>
              <a:gd name="adj" fmla="val 8000"/>
            </a:avLst>
          </a:prstGeom>
          <a:solidFill>
            <a:srgbClr val="F9FBFA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after-us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1976" y="4242816"/>
            <a:ext cx="1316736" cy="8229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339327" y="5120640"/>
            <a:ext cx="23774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6A7A83"/>
                </a:solidFill>
                <a:latin typeface="Microsoft YaHei"/>
              </a:rPr>
              <a:t>用户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5577840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D716A"/>
                </a:solidFill>
                <a:latin typeface="Microsoft YaHei"/>
              </a:rPr>
              <a:t>两档视口：页面级无横向溢出；console error = 0；表格横向滚动被限制在业务区域。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10160">
            <a:solidFill>
              <a:srgbClr val="DC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85216" y="6565392"/>
            <a:ext cx="4572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A7A83"/>
                </a:solidFill>
                <a:latin typeface="Microsoft YaHei"/>
              </a:rPr>
              <a:t>图书馆管理系统 · 五项需求变化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564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A7A83"/>
                </a:solidFill>
                <a:latin typeface="Microsoft YaHe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A394"/>
                </a:solidFill>
                <a:latin typeface="Microsoft YaHei"/>
              </a:rPr>
              <a:t>08 / BEFORE →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42B3A"/>
                </a:solidFill>
                <a:latin typeface="Microsoft YaHei"/>
              </a:rPr>
              <a:t>登录页：从单栏表单到品牌与操作边界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A7A83"/>
                </a:solidFill>
                <a:latin typeface="Microsoft YaHei"/>
              </a:rPr>
              <a:t>真实运行截图 · 改造前 / 改造后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73352"/>
            <a:ext cx="5358384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72784" y="1673352"/>
            <a:ext cx="5358384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901952"/>
            <a:ext cx="868680" cy="274320"/>
          </a:xfrm>
          <a:prstGeom prst="roundRect">
            <a:avLst>
              <a:gd name="adj" fmla="val 8000"/>
            </a:avLst>
          </a:prstGeom>
          <a:solidFill>
            <a:srgbClr val="8B9AA0"/>
          </a:solidFill>
          <a:ln>
            <a:solidFill>
              <a:srgbClr val="8B9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9384"/>
            <a:ext cx="868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改造前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28816" y="1901952"/>
            <a:ext cx="868680" cy="274320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9384"/>
            <a:ext cx="868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改造后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0512" y="1911095"/>
            <a:ext cx="3611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6A7A83"/>
                </a:solidFill>
                <a:latin typeface="Microsoft YaHei"/>
              </a:rPr>
              <a:t>旧图：视口未记录 · 349×382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1911095"/>
            <a:ext cx="3611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6A7A83"/>
                </a:solidFill>
                <a:latin typeface="Microsoft YaHei"/>
              </a:rPr>
              <a:t>新图：采集视口 1280×800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258568"/>
            <a:ext cx="4937759" cy="3099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166" y="2286000"/>
            <a:ext cx="2781906" cy="304495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483096" y="2258568"/>
            <a:ext cx="4937759" cy="3099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fter-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014" y="2286000"/>
            <a:ext cx="4871923" cy="304495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04672" y="5541264"/>
            <a:ext cx="10588752" cy="292608"/>
          </a:xfrm>
          <a:prstGeom prst="roundRect">
            <a:avLst>
              <a:gd name="adj" fmla="val 8000"/>
            </a:avLst>
          </a:prstGeom>
          <a:solidFill>
            <a:srgbClr val="E5F4F1"/>
          </a:solidFill>
          <a:ln>
            <a:solidFill>
              <a:srgbClr val="E5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5586984"/>
            <a:ext cx="10195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D716A"/>
                </a:solidFill>
                <a:latin typeface="Microsoft YaHei"/>
              </a:rPr>
              <a:t>结论  ·  登录动作、品牌信息和表单边界同时可见，投影阅读层级更清楚。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10160">
            <a:solidFill>
              <a:srgbClr val="DC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5216" y="6565392"/>
            <a:ext cx="4572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A7A83"/>
                </a:solidFill>
                <a:latin typeface="Microsoft YaHei"/>
              </a:rPr>
              <a:t>图书馆管理系统 · 五项需求变化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A7A83"/>
                </a:solidFill>
                <a:latin typeface="Microsoft YaHe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A394"/>
                </a:solidFill>
                <a:latin typeface="Microsoft YaHei"/>
              </a:rPr>
              <a:t>09 / BEFORE →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42B3A"/>
                </a:solidFill>
                <a:latin typeface="Microsoft YaHei"/>
              </a:rPr>
              <a:t>Dashboard：从统计堆叠到运营工作台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A7A83"/>
                </a:solidFill>
                <a:latin typeface="Microsoft YaHei"/>
              </a:rPr>
              <a:t>真实运行截图 · 改造前 / 改造后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73352"/>
            <a:ext cx="5358384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72784" y="1673352"/>
            <a:ext cx="5358384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901952"/>
            <a:ext cx="868680" cy="274320"/>
          </a:xfrm>
          <a:prstGeom prst="roundRect">
            <a:avLst>
              <a:gd name="adj" fmla="val 8000"/>
            </a:avLst>
          </a:prstGeom>
          <a:solidFill>
            <a:srgbClr val="8B9AA0"/>
          </a:solidFill>
          <a:ln>
            <a:solidFill>
              <a:srgbClr val="8B9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9384"/>
            <a:ext cx="868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改造前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28816" y="1901952"/>
            <a:ext cx="868680" cy="274320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9384"/>
            <a:ext cx="868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改造后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0512" y="1911095"/>
            <a:ext cx="3611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6A7A83"/>
                </a:solidFill>
                <a:latin typeface="Microsoft YaHei"/>
              </a:rPr>
              <a:t>旧图：视口未记录 · 1614×626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1911095"/>
            <a:ext cx="3611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6A7A83"/>
                </a:solidFill>
                <a:latin typeface="Microsoft YaHei"/>
              </a:rPr>
              <a:t>新图：采集视口 1280×800 · full-page 1280×862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258568"/>
            <a:ext cx="4937759" cy="3099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861545"/>
            <a:ext cx="4882896" cy="1893861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483096" y="2258568"/>
            <a:ext cx="4937759" cy="3099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fter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222" y="2286000"/>
            <a:ext cx="4521506" cy="304495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04672" y="5541264"/>
            <a:ext cx="10588752" cy="292608"/>
          </a:xfrm>
          <a:prstGeom prst="roundRect">
            <a:avLst>
              <a:gd name="adj" fmla="val 8000"/>
            </a:avLst>
          </a:prstGeom>
          <a:solidFill>
            <a:srgbClr val="E5F4F1"/>
          </a:solidFill>
          <a:ln>
            <a:solidFill>
              <a:srgbClr val="E5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5586984"/>
            <a:ext cx="10195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D716A"/>
                </a:solidFill>
                <a:latin typeface="Microsoft YaHei"/>
              </a:rPr>
              <a:t>结论  ·  指标卡、日期信息与图表形成稳定层级，页面级无横向溢出。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10160">
            <a:solidFill>
              <a:srgbClr val="DC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5216" y="6565392"/>
            <a:ext cx="4572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A7A83"/>
                </a:solidFill>
                <a:latin typeface="Microsoft YaHei"/>
              </a:rPr>
              <a:t>图书馆管理系统 · 五项需求变化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A7A83"/>
                </a:solidFill>
                <a:latin typeface="Microsoft YaHe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A394"/>
                </a:solidFill>
                <a:latin typeface="Microsoft YaHei"/>
              </a:rPr>
              <a:t>10 / BEFORE →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42B3A"/>
                </a:solidFill>
                <a:latin typeface="Microsoft YaHei"/>
              </a:rPr>
              <a:t>图书页：库存字段进入主视线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A7A83"/>
                </a:solidFill>
                <a:latin typeface="Microsoft YaHei"/>
              </a:rPr>
              <a:t>真实运行截图 · 改造前 / 改造后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73352"/>
            <a:ext cx="5358384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72784" y="1673352"/>
            <a:ext cx="5358384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901952"/>
            <a:ext cx="868680" cy="274320"/>
          </a:xfrm>
          <a:prstGeom prst="roundRect">
            <a:avLst>
              <a:gd name="adj" fmla="val 8000"/>
            </a:avLst>
          </a:prstGeom>
          <a:solidFill>
            <a:srgbClr val="8B9AA0"/>
          </a:solidFill>
          <a:ln>
            <a:solidFill>
              <a:srgbClr val="8B9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9384"/>
            <a:ext cx="868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改造前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28816" y="1901952"/>
            <a:ext cx="868680" cy="274320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9384"/>
            <a:ext cx="868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改造后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0512" y="1911095"/>
            <a:ext cx="3611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6A7A83"/>
                </a:solidFill>
                <a:latin typeface="Microsoft YaHei"/>
              </a:rPr>
              <a:t>旧图：视口未记录 · 1821×526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1911095"/>
            <a:ext cx="3611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6A7A83"/>
                </a:solidFill>
                <a:latin typeface="Microsoft YaHei"/>
              </a:rPr>
              <a:t>新图：采集视口 1280×800 · full-page 1280×988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258568"/>
            <a:ext cx="4937759" cy="3099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103258"/>
            <a:ext cx="4882896" cy="141043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483096" y="2258568"/>
            <a:ext cx="4937759" cy="3099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fter-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537" y="2286000"/>
            <a:ext cx="3944877" cy="304495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04672" y="5541264"/>
            <a:ext cx="10588752" cy="292608"/>
          </a:xfrm>
          <a:prstGeom prst="roundRect">
            <a:avLst>
              <a:gd name="adj" fmla="val 8000"/>
            </a:avLst>
          </a:prstGeom>
          <a:solidFill>
            <a:srgbClr val="E5F4F1"/>
          </a:solidFill>
          <a:ln>
            <a:solidFill>
              <a:srgbClr val="E5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5586984"/>
            <a:ext cx="10195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D716A"/>
                </a:solidFill>
                <a:latin typeface="Microsoft YaHei"/>
              </a:rPr>
              <a:t>结论  ·  馆藏总数与可借数量可直接核对，操作列在窄屏下仍可见。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10160">
            <a:solidFill>
              <a:srgbClr val="DC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5216" y="6565392"/>
            <a:ext cx="4572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A7A83"/>
                </a:solidFill>
                <a:latin typeface="Microsoft YaHei"/>
              </a:rPr>
              <a:t>图书馆管理系统 · 五项需求变化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A7A83"/>
                </a:solidFill>
                <a:latin typeface="Microsoft YaHe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A394"/>
                </a:solidFill>
                <a:latin typeface="Microsoft YaHei"/>
              </a:rPr>
              <a:t>11 / BEFORE →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42B3A"/>
                </a:solidFill>
                <a:latin typeface="Microsoft YaHei"/>
              </a:rPr>
              <a:t>用户页：新增读者与删除边界可见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A7A83"/>
                </a:solidFill>
                <a:latin typeface="Microsoft YaHei"/>
              </a:rPr>
              <a:t>真实运行截图 · 改造前 / 改造后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73352"/>
            <a:ext cx="5358384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72784" y="1673352"/>
            <a:ext cx="5358384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901952"/>
            <a:ext cx="868680" cy="274320"/>
          </a:xfrm>
          <a:prstGeom prst="roundRect">
            <a:avLst>
              <a:gd name="adj" fmla="val 8000"/>
            </a:avLst>
          </a:prstGeom>
          <a:solidFill>
            <a:srgbClr val="8B9AA0"/>
          </a:solidFill>
          <a:ln>
            <a:solidFill>
              <a:srgbClr val="8B9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29384"/>
            <a:ext cx="868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改造前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28816" y="1901952"/>
            <a:ext cx="868680" cy="274320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29384"/>
            <a:ext cx="8686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改造后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0512" y="1911095"/>
            <a:ext cx="3611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6A7A83"/>
                </a:solidFill>
                <a:latin typeface="Microsoft YaHei"/>
              </a:rPr>
              <a:t>旧图：视口未记录 · 1584×381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1911095"/>
            <a:ext cx="3611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0">
                <a:solidFill>
                  <a:srgbClr val="6A7A83"/>
                </a:solidFill>
                <a:latin typeface="Microsoft YaHei"/>
              </a:rPr>
              <a:t>新图：采集视口 1280×800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258568"/>
            <a:ext cx="4937759" cy="3099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3221233"/>
            <a:ext cx="4882896" cy="117448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483096" y="2258568"/>
            <a:ext cx="4937759" cy="30998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fter-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014" y="2286000"/>
            <a:ext cx="4871923" cy="304495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04672" y="5541264"/>
            <a:ext cx="10588752" cy="292608"/>
          </a:xfrm>
          <a:prstGeom prst="roundRect">
            <a:avLst>
              <a:gd name="adj" fmla="val 8000"/>
            </a:avLst>
          </a:prstGeom>
          <a:solidFill>
            <a:srgbClr val="E5F4F1"/>
          </a:solidFill>
          <a:ln>
            <a:solidFill>
              <a:srgbClr val="E5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5586984"/>
            <a:ext cx="10195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D716A"/>
                </a:solidFill>
                <a:latin typeface="Microsoft YaHei"/>
              </a:rPr>
              <a:t>结论  ·  新增入口、筛选、表格和操作反馈被收进同一页面语义。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10160">
            <a:solidFill>
              <a:srgbClr val="DC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5216" y="6565392"/>
            <a:ext cx="4572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A7A83"/>
                </a:solidFill>
                <a:latin typeface="Microsoft YaHei"/>
              </a:rPr>
              <a:t>图书馆管理系统 · 五项需求变化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A7A83"/>
                </a:solidFill>
                <a:latin typeface="Microsoft YaHe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A394"/>
                </a:solidFill>
                <a:latin typeface="Microsoft YaHei"/>
              </a:rPr>
              <a:t>12 /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42B3A"/>
                </a:solidFill>
                <a:latin typeface="Microsoft YaHei"/>
              </a:rPr>
              <a:t>验收数据与提交记录：每项变化都有可复查证据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A7A83"/>
                </a:solidFill>
                <a:latin typeface="Microsoft YaHei"/>
              </a:rPr>
              <a:t>数据来自仓库验收记录与最终提交历史；截图来自真实运行页面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00784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00784"/>
            <a:ext cx="73152" cy="960120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56232"/>
            <a:ext cx="17556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B3A"/>
                </a:solidFill>
                <a:latin typeface="Microsoft YaHei"/>
              </a:rPr>
              <a:t>11/11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313432"/>
            <a:ext cx="17556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A7A83"/>
                </a:solidFill>
                <a:latin typeface="Microsoft YaHei"/>
              </a:rPr>
              <a:t>核心冒烟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743200"/>
            <a:ext cx="18105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A7A83"/>
                </a:solidFill>
                <a:latin typeface="Microsoft YaHei"/>
              </a:rPr>
              <a:t>./dev.sh verify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1700784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34640" y="1700784"/>
            <a:ext cx="73152" cy="960120"/>
          </a:xfrm>
          <a:prstGeom prst="roundRect">
            <a:avLst>
              <a:gd name="adj" fmla="val 8000"/>
            </a:avLst>
          </a:prstGeom>
          <a:solidFill>
            <a:srgbClr val="142B3A"/>
          </a:solidFill>
          <a:ln>
            <a:solidFill>
              <a:srgbClr val="14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1856232"/>
            <a:ext cx="17556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B3A"/>
                </a:solidFill>
                <a:latin typeface="Microsoft YaHei"/>
              </a:rPr>
              <a:t>6/6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313432"/>
            <a:ext cx="17556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A7A83"/>
                </a:solidFill>
                <a:latin typeface="Microsoft YaHei"/>
              </a:rPr>
              <a:t>借还续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2743200"/>
            <a:ext cx="18105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A7A83"/>
                </a:solidFill>
                <a:latin typeface="Microsoft YaHei"/>
              </a:rPr>
              <a:t>verify_circulation_http.py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2352" y="1700784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02352" y="1700784"/>
            <a:ext cx="73152" cy="960120"/>
          </a:xfrm>
          <a:prstGeom prst="roundRect">
            <a:avLst>
              <a:gd name="adj" fmla="val 8000"/>
            </a:avLst>
          </a:prstGeom>
          <a:solidFill>
            <a:srgbClr val="E47B45"/>
          </a:solidFill>
          <a:ln>
            <a:solidFill>
              <a:srgbClr val="E47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1856232"/>
            <a:ext cx="17556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B3A"/>
                </a:solidFill>
                <a:latin typeface="Microsoft YaHei"/>
              </a:rPr>
              <a:t>9/9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313432"/>
            <a:ext cx="17556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A7A83"/>
                </a:solidFill>
                <a:latin typeface="Microsoft YaHei"/>
              </a:rPr>
              <a:t>库存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743200"/>
            <a:ext cx="18105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A7A83"/>
                </a:solidFill>
                <a:latin typeface="Microsoft YaHei"/>
              </a:rPr>
              <a:t>verify_inventory_http.py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70063" y="1700784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70063" y="1700784"/>
            <a:ext cx="73152" cy="960120"/>
          </a:xfrm>
          <a:prstGeom prst="roundRect">
            <a:avLst>
              <a:gd name="adj" fmla="val 8000"/>
            </a:avLst>
          </a:prstGeom>
          <a:solidFill>
            <a:srgbClr val="D95D5D"/>
          </a:solidFill>
          <a:ln>
            <a:solidFill>
              <a:srgbClr val="D9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71231" y="1856232"/>
            <a:ext cx="17556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B3A"/>
                </a:solidFill>
                <a:latin typeface="Microsoft YaHei"/>
              </a:rPr>
              <a:t>6/6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231" y="2313432"/>
            <a:ext cx="17556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A7A83"/>
                </a:solidFill>
                <a:latin typeface="Microsoft YaHei"/>
              </a:rPr>
              <a:t>逾期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2743200"/>
            <a:ext cx="18105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A7A83"/>
                </a:solidFill>
                <a:latin typeface="Microsoft YaHei"/>
              </a:rPr>
              <a:t>verify_overdue_http.py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37776" y="1700784"/>
            <a:ext cx="202996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37776" y="1700784"/>
            <a:ext cx="73152" cy="960120"/>
          </a:xfrm>
          <a:prstGeom prst="roundRect">
            <a:avLst>
              <a:gd name="adj" fmla="val 8000"/>
            </a:avLst>
          </a:prstGeom>
          <a:solidFill>
            <a:srgbClr val="6C6DE5"/>
          </a:solidFill>
          <a:ln>
            <a:solidFill>
              <a:srgbClr val="6C6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38944" y="1856232"/>
            <a:ext cx="17556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42B3A"/>
                </a:solidFill>
                <a:latin typeface="Microsoft YaHei"/>
              </a:rPr>
              <a:t>7/7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38944" y="2313432"/>
            <a:ext cx="17556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A7A83"/>
                </a:solidFill>
                <a:latin typeface="Microsoft YaHei"/>
              </a:rPr>
              <a:t>用户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2743200"/>
            <a:ext cx="181051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6A7A83"/>
                </a:solidFill>
                <a:latin typeface="Microsoft YaHei"/>
              </a:rPr>
              <a:t>verify_user_management_http.py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310128"/>
            <a:ext cx="11064240" cy="2542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" y="3611880"/>
            <a:ext cx="2103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142B3A"/>
                </a:solidFill>
                <a:latin typeface="Microsoft YaHei"/>
              </a:rPr>
              <a:t>T1 → T5  提交链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4133087"/>
            <a:ext cx="384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A394"/>
                </a:solidFill>
                <a:latin typeface="Microsoft YaHei"/>
              </a:rPr>
              <a:t>T1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6736" y="4133087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42B3A"/>
                </a:solidFill>
                <a:latin typeface="Microsoft YaHei"/>
              </a:rPr>
              <a:t>1745b11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4489704"/>
            <a:ext cx="1700784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3333D"/>
                </a:solidFill>
                <a:latin typeface="Microsoft YaHei"/>
              </a:rPr>
              <a:t>后端化借还续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633472" y="4279392"/>
            <a:ext cx="201168" cy="0"/>
          </a:xfrm>
          <a:prstGeom prst="line">
            <a:avLst/>
          </a:prstGeom>
          <a:ln w="15240">
            <a:solidFill>
              <a:srgbClr val="DC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80944" y="4133087"/>
            <a:ext cx="384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A394"/>
                </a:solidFill>
                <a:latin typeface="Microsoft YaHei"/>
              </a:rPr>
              <a:t>T2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01568" y="4133087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42B3A"/>
                </a:solidFill>
                <a:latin typeface="Microsoft YaHei"/>
              </a:rPr>
              <a:t>eca083e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80944" y="4489704"/>
            <a:ext cx="1700784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3333D"/>
                </a:solidFill>
                <a:latin typeface="Microsoft YaHei"/>
              </a:rPr>
              <a:t>库存数量与约束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718304" y="4279392"/>
            <a:ext cx="201168" cy="0"/>
          </a:xfrm>
          <a:prstGeom prst="line">
            <a:avLst/>
          </a:prstGeom>
          <a:ln w="15240">
            <a:solidFill>
              <a:srgbClr val="DC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65775" y="4133087"/>
            <a:ext cx="384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A394"/>
                </a:solidFill>
                <a:latin typeface="Microsoft YaHei"/>
              </a:rPr>
              <a:t>T3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399" y="4133087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42B3A"/>
                </a:solidFill>
                <a:latin typeface="Microsoft YaHei"/>
              </a:rPr>
              <a:t>23401f3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65775" y="4489704"/>
            <a:ext cx="1700784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3333D"/>
                </a:solidFill>
                <a:latin typeface="Microsoft YaHei"/>
              </a:rPr>
              <a:t>逾期管理与限制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803136" y="4279392"/>
            <a:ext cx="201167" cy="0"/>
          </a:xfrm>
          <a:prstGeom prst="line">
            <a:avLst/>
          </a:prstGeom>
          <a:ln w="15240">
            <a:solidFill>
              <a:srgbClr val="DC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150608" y="4133087"/>
            <a:ext cx="384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A394"/>
                </a:solidFill>
                <a:latin typeface="Microsoft YaHei"/>
              </a:rPr>
              <a:t>T4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71232" y="4133087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42B3A"/>
                </a:solidFill>
                <a:latin typeface="Microsoft YaHei"/>
              </a:rPr>
              <a:t>322e1ce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50608" y="4489704"/>
            <a:ext cx="1700784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3333D"/>
                </a:solidFill>
                <a:latin typeface="Microsoft YaHei"/>
              </a:rPr>
              <a:t>管理员用户管理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887968" y="4279392"/>
            <a:ext cx="201168" cy="0"/>
          </a:xfrm>
          <a:prstGeom prst="line">
            <a:avLst/>
          </a:prstGeom>
          <a:ln w="15240">
            <a:solidFill>
              <a:srgbClr val="DC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235440" y="4133087"/>
            <a:ext cx="384048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6A394"/>
                </a:solidFill>
                <a:latin typeface="Microsoft YaHei"/>
              </a:rPr>
              <a:t>T5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56064" y="4133087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42B3A"/>
                </a:solidFill>
                <a:latin typeface="Microsoft YaHei"/>
              </a:rPr>
              <a:t>48c645d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489704"/>
            <a:ext cx="1700784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3333D"/>
                </a:solidFill>
                <a:latin typeface="Microsoft YaHei"/>
              </a:rPr>
              <a:t>前端视觉与交互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6112" y="5330952"/>
            <a:ext cx="978408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D716A"/>
                </a:solidFill>
                <a:latin typeface="Microsoft YaHei"/>
              </a:rPr>
              <a:t>Playwright 1280×800 / 1024×768：页面级 scrollWidth = viewport；无 console error。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10160">
            <a:solidFill>
              <a:srgbClr val="DCE4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85216" y="6565392"/>
            <a:ext cx="4572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A7A83"/>
                </a:solidFill>
                <a:latin typeface="Microsoft YaHei"/>
              </a:rPr>
              <a:t>图书馆管理系统 · 五项需求变化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3564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A7A83"/>
                </a:solidFill>
                <a:latin typeface="Microsoft YaHe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3A"/>
          </a:solidFill>
          <a:ln>
            <a:solidFill>
              <a:srgbClr val="14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9184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8FE4D7"/>
                </a:solidFill>
                <a:latin typeface="Microsoft YaHei"/>
              </a:rPr>
              <a:t>13 /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边界与总结：完成的是可验证交付，不是无限扩张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88720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B8C7CA"/>
                </a:solidFill>
                <a:latin typeface="Microsoft YaHei"/>
              </a:rPr>
              <a:t>五项需求已分别完成并 push；本 PPT 是独立汇报交付物，不修改业务源码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73936"/>
            <a:ext cx="5376672" cy="4242816"/>
          </a:xfrm>
          <a:prstGeom prst="roundRect">
            <a:avLst>
              <a:gd name="adj" fmla="val 8000"/>
            </a:avLst>
          </a:prstGeom>
          <a:solidFill>
            <a:srgbClr val="1E3B4A"/>
          </a:solidFill>
          <a:ln>
            <a:solidFill>
              <a:srgbClr val="356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03120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8FE4D7"/>
                </a:solidFill>
                <a:latin typeface="Microsoft YaHei"/>
              </a:rPr>
              <a:t>已完成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2697479"/>
            <a:ext cx="73152" cy="73152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615184"/>
            <a:ext cx="4251959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D4E1E2"/>
                </a:solidFill>
                <a:latin typeface="Microsoft YaHei"/>
              </a:rPr>
              <a:t>业务规则落到后端事务与数据库约束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3355848"/>
            <a:ext cx="73152" cy="73152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273552"/>
            <a:ext cx="4251959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D4E1E2"/>
                </a:solidFill>
                <a:latin typeface="Microsoft YaHei"/>
              </a:rPr>
              <a:t>四组真实截图证明视觉变化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4014215"/>
            <a:ext cx="73152" cy="73152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931920"/>
            <a:ext cx="4251959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D4E1E2"/>
                </a:solidFill>
                <a:latin typeface="Microsoft YaHei"/>
              </a:rPr>
              <a:t>黑盒脚本覆盖成功、失败与数据不变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672583"/>
            <a:ext cx="73152" cy="73152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590288"/>
            <a:ext cx="4251959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D4E1E2"/>
                </a:solidFill>
                <a:latin typeface="Microsoft YaHei"/>
              </a:rPr>
              <a:t>两档视口页面级无横向溢出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73936"/>
            <a:ext cx="5376672" cy="4242816"/>
          </a:xfrm>
          <a:prstGeom prst="roundRect">
            <a:avLst>
              <a:gd name="adj" fmla="val 8000"/>
            </a:avLst>
          </a:prstGeom>
          <a:solidFill>
            <a:srgbClr val="1E3B4A"/>
          </a:solidFill>
          <a:ln>
            <a:solidFill>
              <a:srgbClr val="3561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103120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4B187"/>
                </a:solidFill>
                <a:latin typeface="Microsoft YaHei"/>
              </a:rPr>
              <a:t>明确边界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65392" y="2697479"/>
            <a:ext cx="73152" cy="73152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2615184"/>
            <a:ext cx="4251959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D4E1E2"/>
                </a:solidFill>
                <a:latin typeface="Microsoft YaHei"/>
              </a:rPr>
              <a:t>项目仍无统一 token 鉴权拦截器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65392" y="3355848"/>
            <a:ext cx="73152" cy="73152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3273552"/>
            <a:ext cx="4251959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D4E1E2"/>
                </a:solidFill>
                <a:latin typeface="Microsoft YaHei"/>
              </a:rPr>
              <a:t>旧直写接口保留，正式页面走新流程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65392" y="4014215"/>
            <a:ext cx="73152" cy="73152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3931920"/>
            <a:ext cx="4251959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D4E1E2"/>
                </a:solidFill>
                <a:latin typeface="Microsoft YaHei"/>
              </a:rPr>
              <a:t>人工浏览器视觉复核仍建议在交付环境补做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65392" y="4672583"/>
            <a:ext cx="73152" cy="73152"/>
          </a:xfrm>
          <a:prstGeom prst="roundRect">
            <a:avLst>
              <a:gd name="adj" fmla="val 8000"/>
            </a:avLst>
          </a:prstGeom>
          <a:solidFill>
            <a:srgbClr val="16A394"/>
          </a:solidFill>
          <a:ln>
            <a:solidFill>
              <a:srgbClr val="16A3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4590288"/>
            <a:ext cx="4251959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D4E1E2"/>
                </a:solidFill>
                <a:latin typeface="Microsoft YaHei"/>
              </a:rPr>
              <a:t>本次不把未完成能力写成完成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272784"/>
            <a:ext cx="10652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8FE4D7"/>
                </a:solidFill>
                <a:latin typeface="Microsoft YaHei"/>
              </a:rPr>
              <a:t>结论  ·  五项变化形成一条从规则、数据到体验的证据链。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510528"/>
            <a:ext cx="11045952" cy="0"/>
          </a:xfrm>
          <a:prstGeom prst="line">
            <a:avLst/>
          </a:prstGeom>
          <a:ln w="10160">
            <a:solidFill>
              <a:srgbClr val="4660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85216" y="6565392"/>
            <a:ext cx="45720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A9BDC1"/>
                </a:solidFill>
                <a:latin typeface="Microsoft YaHei"/>
              </a:rPr>
              <a:t>图书馆管理系统 · 五项需求变化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35640" y="6556248"/>
            <a:ext cx="77724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A9BDC1"/>
                </a:solidFill>
                <a:latin typeface="Microsoft YaHe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