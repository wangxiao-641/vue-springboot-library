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6.png"/><Relationship Id="rId4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72A"/>
          </a:solidFill>
          <a:ln>
            <a:solidFill>
              <a:srgbClr val="0B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7CFF"/>
          </a:solidFill>
          <a:ln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66928"/>
            <a:ext cx="57607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28D7F2"/>
                </a:solidFill>
                <a:latin typeface="Microsoft YaHei"/>
              </a:rPr>
              <a:t>LIBRARY / DELIVERY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6583680" cy="1051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图书馆管理系统
最终汇报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615184"/>
            <a:ext cx="64008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0">
                <a:solidFill>
                  <a:srgbClr val="D4E1E2"/>
                </a:solidFill>
                <a:latin typeface="Microsoft YaHei"/>
              </a:rPr>
              <a:t>五项需求 · 三套风格 · 一键验收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" y="3273552"/>
            <a:ext cx="4133088" cy="0"/>
          </a:xfrm>
          <a:prstGeom prst="line">
            <a:avLst/>
          </a:prstGeom>
          <a:ln w="25400">
            <a:solidFill>
              <a:srgbClr val="8B7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94944" y="3493008"/>
            <a:ext cx="6583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AABBD0"/>
                </a:solidFill>
                <a:latin typeface="Microsoft YaHei"/>
              </a:rPr>
              <a:t>真实截图 · HTTP 黑盒 · 提交证据 · 边界说明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73568" y="1133856"/>
            <a:ext cx="3273552" cy="4206240"/>
          </a:xfrm>
          <a:prstGeom prst="roundRect">
            <a:avLst>
              <a:gd name="adj" fmla="val 8000"/>
            </a:avLst>
          </a:prstGeom>
          <a:solidFill>
            <a:srgbClr val="14243E"/>
          </a:solidFill>
          <a:ln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94192" y="1554480"/>
            <a:ext cx="242316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600" b="1">
                <a:solidFill>
                  <a:srgbClr val="28D7F2"/>
                </a:solidFill>
                <a:latin typeface="Microsoft YaHe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2724912"/>
            <a:ext cx="2286000" cy="7132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Microsoft YaHei"/>
              </a:rPr>
              <a:t>项需求
连续交付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96528" y="3986784"/>
            <a:ext cx="1664208" cy="274320"/>
          </a:xfrm>
          <a:prstGeom prst="roundRect">
            <a:avLst>
              <a:gd name="adj" fmla="val 8000"/>
            </a:avLst>
          </a:prstGeom>
          <a:solidFill>
            <a:srgbClr val="8B7CFF"/>
          </a:solidFill>
          <a:ln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96528" y="4018788"/>
            <a:ext cx="166420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T1 → T4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4736592"/>
            <a:ext cx="25603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>
                <a:solidFill>
                  <a:srgbClr val="AABBD0"/>
                </a:solidFill>
                <a:latin typeface="Microsoft YaHei"/>
              </a:rPr>
              <a:t>2026.07 · aef9188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" y="6473952"/>
            <a:ext cx="11045952" cy="0"/>
          </a:xfrm>
          <a:prstGeom prst="line">
            <a:avLst/>
          </a:prstGeom>
          <a:ln w="10160">
            <a:solidFill>
              <a:srgbClr val="3147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85216" y="6528816"/>
            <a:ext cx="5943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8EA3B8"/>
                </a:solidFill>
                <a:latin typeface="Microsoft YaHei"/>
              </a:rPr>
              <a:t>图书馆管理系统 · 五项需求变化 · T4 汇报版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8208" y="6528816"/>
            <a:ext cx="822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8EA3B8"/>
                </a:solidFill>
                <a:latin typeface="Microsoft YaHei"/>
              </a:rPr>
              <a:t>01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8"/>
          </a:solidFill>
          <a:ln>
            <a:solidFill>
              <a:srgbClr val="F7F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45720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Microsoft YaHei"/>
              </a:rPr>
              <a:t>01 /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Microsoft YaHei"/>
              </a:rPr>
              <a:t>五项需求：从“能用”走向“可验证”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70432"/>
            <a:ext cx="109728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6B7C88"/>
                </a:solidFill>
                <a:latin typeface="Microsoft YaHei"/>
              </a:rPr>
              <a:t>规则、数据、流程、权限与视觉共同形成一条可复查证据链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64208"/>
            <a:ext cx="3703320" cy="4389120"/>
          </a:xfrm>
          <a:prstGeom prst="roundRect">
            <a:avLst>
              <a:gd name="adj" fmla="val 8000"/>
            </a:avLst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1993392"/>
            <a:ext cx="1828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icrosoft YaHei"/>
              </a:rPr>
              <a:t>原始断点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2651760"/>
            <a:ext cx="73152" cy="73152"/>
          </a:xfrm>
          <a:prstGeom prst="roundRect">
            <a:avLst>
              <a:gd name="adj" fmla="val 8000"/>
            </a:avLst>
          </a:prstGeom>
          <a:solidFill>
            <a:srgbClr val="28D7F2"/>
          </a:solidFill>
          <a:ln>
            <a:solidFill>
              <a:srgbClr val="28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2560320"/>
            <a:ext cx="2798064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D4E1E2"/>
                </a:solidFill>
                <a:latin typeface="Microsoft YaHei"/>
              </a:rPr>
              <a:t>库存只有可借 / 不可借，无法表达馆藏规模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" y="3310127"/>
            <a:ext cx="73152" cy="73152"/>
          </a:xfrm>
          <a:prstGeom prst="roundRect">
            <a:avLst>
              <a:gd name="adj" fmla="val 8000"/>
            </a:avLst>
          </a:prstGeom>
          <a:solidFill>
            <a:srgbClr val="28D7F2"/>
          </a:solidFill>
          <a:ln>
            <a:solidFill>
              <a:srgbClr val="28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" y="3218687"/>
            <a:ext cx="2798064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D4E1E2"/>
                </a:solidFill>
                <a:latin typeface="Microsoft YaHei"/>
              </a:rPr>
              <a:t>借还操作分散，失败可能留下半成品状态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3968496"/>
            <a:ext cx="73152" cy="73152"/>
          </a:xfrm>
          <a:prstGeom prst="roundRect">
            <a:avLst>
              <a:gd name="adj" fmla="val 8000"/>
            </a:avLst>
          </a:prstGeom>
          <a:solidFill>
            <a:srgbClr val="28D7F2"/>
          </a:solidFill>
          <a:ln>
            <a:solidFill>
              <a:srgbClr val="28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3877056"/>
            <a:ext cx="2798064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D4E1E2"/>
                </a:solidFill>
                <a:latin typeface="Microsoft YaHei"/>
              </a:rPr>
              <a:t>逾期、续借和删除边界不统一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" y="4626864"/>
            <a:ext cx="73152" cy="73152"/>
          </a:xfrm>
          <a:prstGeom prst="roundRect">
            <a:avLst>
              <a:gd name="adj" fmla="val 8000"/>
            </a:avLst>
          </a:prstGeom>
          <a:solidFill>
            <a:srgbClr val="28D7F2"/>
          </a:solidFill>
          <a:ln>
            <a:solidFill>
              <a:srgbClr val="28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4535424"/>
            <a:ext cx="2798064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D4E1E2"/>
                </a:solidFill>
                <a:latin typeface="Microsoft YaHei"/>
              </a:rPr>
              <a:t>页面信息层级不稳定，难以投影答辩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53712" y="1664208"/>
            <a:ext cx="7077456" cy="4389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82896" y="1993392"/>
            <a:ext cx="1828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102A43"/>
                </a:solidFill>
                <a:latin typeface="Microsoft YaHei"/>
              </a:rPr>
              <a:t>交付闭环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82896" y="2633472"/>
            <a:ext cx="1901952" cy="987552"/>
          </a:xfrm>
          <a:prstGeom prst="roundRect">
            <a:avLst>
              <a:gd name="adj" fmla="val 8000"/>
            </a:avLst>
          </a:prstGeom>
          <a:solidFill>
            <a:srgbClr val="F8FA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10912" y="2752344"/>
            <a:ext cx="402336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Microsoft YaHei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31536" y="2743200"/>
            <a:ext cx="11887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Microsoft YaHei"/>
              </a:rPr>
              <a:t>库存数量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10912" y="3136391"/>
            <a:ext cx="162763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6B7C88"/>
                </a:solidFill>
                <a:latin typeface="Microsoft YaHei"/>
              </a:rPr>
              <a:t>totalCount / availableCount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31736" y="2633472"/>
            <a:ext cx="1901952" cy="987552"/>
          </a:xfrm>
          <a:prstGeom prst="roundRect">
            <a:avLst>
              <a:gd name="adj" fmla="val 8000"/>
            </a:avLst>
          </a:prstGeom>
          <a:solidFill>
            <a:srgbClr val="F8FAFA"/>
          </a:solidFill>
          <a:ln>
            <a:solidFill>
              <a:srgbClr val="C878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59751" y="2752344"/>
            <a:ext cx="402336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C87845"/>
                </a:solidFill>
                <a:latin typeface="Microsoft YaHei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0375" y="2743200"/>
            <a:ext cx="11887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Microsoft YaHei"/>
              </a:rPr>
              <a:t>逾期管理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9751" y="3136391"/>
            <a:ext cx="162763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6B7C88"/>
                </a:solidFill>
                <a:latin typeface="Microsoft YaHei"/>
              </a:rPr>
              <a:t>dueStatus / overdueDays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0576" y="2633472"/>
            <a:ext cx="1901952" cy="987552"/>
          </a:xfrm>
          <a:prstGeom prst="roundRect">
            <a:avLst>
              <a:gd name="adj" fmla="val 8000"/>
            </a:avLst>
          </a:prstGeom>
          <a:solidFill>
            <a:srgbClr val="F8FAFA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2752344"/>
            <a:ext cx="402336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Microsoft YaHe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29215" y="2743200"/>
            <a:ext cx="11887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Microsoft YaHei"/>
              </a:rPr>
              <a:t>流程后端化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3136391"/>
            <a:ext cx="162763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6B7C88"/>
                </a:solidFill>
                <a:latin typeface="Microsoft YaHei"/>
              </a:rPr>
              <a:t>/circulation/*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82896" y="3959352"/>
            <a:ext cx="1901952" cy="987552"/>
          </a:xfrm>
          <a:prstGeom prst="roundRect">
            <a:avLst>
              <a:gd name="adj" fmla="val 8000"/>
            </a:avLst>
          </a:prstGeom>
          <a:solidFill>
            <a:srgbClr val="F8FAFA"/>
          </a:solidFill>
          <a:ln>
            <a:solidFill>
              <a:srgbClr val="C63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10912" y="4078224"/>
            <a:ext cx="402336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C63D3D"/>
                </a:solidFill>
                <a:latin typeface="Microsoft YaHe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31536" y="4069080"/>
            <a:ext cx="11887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Microsoft YaHei"/>
              </a:rPr>
              <a:t>用户管理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10912" y="4462272"/>
            <a:ext cx="162763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6B7C88"/>
                </a:solidFill>
                <a:latin typeface="Microsoft YaHei"/>
              </a:rPr>
              <a:t>新增 / 删除边界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031736" y="3959352"/>
            <a:ext cx="1901952" cy="987552"/>
          </a:xfrm>
          <a:prstGeom prst="roundRect">
            <a:avLst>
              <a:gd name="adj" fmla="val 8000"/>
            </a:avLst>
          </a:prstGeom>
          <a:solidFill>
            <a:srgbClr val="F8FAFA"/>
          </a:solidFill>
          <a:ln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59751" y="4078224"/>
            <a:ext cx="402336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8B7CFF"/>
                </a:solidFill>
                <a:latin typeface="Microsoft YaHe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80375" y="4069080"/>
            <a:ext cx="11887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Microsoft YaHei"/>
              </a:rPr>
              <a:t>三套视觉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59751" y="4462272"/>
            <a:ext cx="162763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6B7C88"/>
                </a:solidFill>
                <a:latin typeface="Microsoft YaHei"/>
              </a:rPr>
              <a:t>atlas / academy / command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82896" y="5449824"/>
            <a:ext cx="59893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F766E"/>
                </a:solidFill>
                <a:latin typeface="Microsoft YaHei"/>
              </a:rPr>
              <a:t>验收口径：真实运行截图 + HTTP 黑盒 + 全量回归，不把“代码已写”当作“能力已完成”。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66928" y="6473952"/>
            <a:ext cx="11045952" cy="0"/>
          </a:xfrm>
          <a:prstGeom prst="line">
            <a:avLst/>
          </a:prstGeom>
          <a:ln w="10160">
            <a:solidFill>
              <a:srgbClr val="D9E3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85216" y="6528816"/>
            <a:ext cx="5943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6B7C88"/>
                </a:solidFill>
                <a:latin typeface="Microsoft YaHei"/>
              </a:rPr>
              <a:t>图书馆管理系统 · 五项需求变化 · T4 汇报版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8208" y="6528816"/>
            <a:ext cx="822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6B7C88"/>
                </a:solidFill>
                <a:latin typeface="Microsoft YaHei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8"/>
          </a:solidFill>
          <a:ln>
            <a:solidFill>
              <a:srgbClr val="F7F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45720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Microsoft YaHei"/>
              </a:rPr>
              <a:t>02 / REQUIREMENT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Microsoft YaHei"/>
              </a:rPr>
              <a:t>库存从“状态”升级为“数量链路”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70432"/>
            <a:ext cx="109728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6B7C88"/>
                </a:solidFill>
                <a:latin typeface="Microsoft YaHei"/>
              </a:rPr>
              <a:t>页面展示与数据库约束共用 totalCount、availableCount 和已借出数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19072"/>
            <a:ext cx="658368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29968"/>
            <a:ext cx="32004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102A43"/>
                </a:solidFill>
                <a:latin typeface="Microsoft YaHei"/>
              </a:rPr>
              <a:t>一次借书如何改变数据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688336"/>
            <a:ext cx="1609344" cy="1298448"/>
          </a:xfrm>
          <a:prstGeom prst="roundRect">
            <a:avLst>
              <a:gd name="adj" fmla="val 8000"/>
            </a:avLst>
          </a:prstGeom>
          <a:solidFill>
            <a:srgbClr val="E6FFFA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160934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0F766E"/>
                </a:solidFill>
                <a:latin typeface="Microsoft YaHei"/>
              </a:rPr>
              <a:t>借前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27832"/>
            <a:ext cx="160934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263746"/>
                </a:solidFill>
                <a:latin typeface="Microsoft YaHei"/>
              </a:rPr>
              <a:t>总数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47872"/>
            <a:ext cx="1609344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>
                <a:solidFill>
                  <a:srgbClr val="6B7C88"/>
                </a:solidFill>
                <a:latin typeface="Microsoft YaHei"/>
              </a:rPr>
              <a:t>可借 1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60320" y="3328416"/>
            <a:ext cx="210312" cy="0"/>
          </a:xfrm>
          <a:prstGeom prst="line">
            <a:avLst/>
          </a:prstGeom>
          <a:ln w="2032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62072" y="2688336"/>
            <a:ext cx="1609344" cy="1298448"/>
          </a:xfrm>
          <a:prstGeom prst="roundRect">
            <a:avLst>
              <a:gd name="adj" fmla="val 8000"/>
            </a:avLst>
          </a:prstGeom>
          <a:solidFill>
            <a:srgbClr val="F8E8DF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62072" y="2880360"/>
            <a:ext cx="160934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C87845"/>
                </a:solidFill>
                <a:latin typeface="Microsoft YaHei"/>
              </a:rPr>
              <a:t>借书成功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62072" y="3227832"/>
            <a:ext cx="160934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263746"/>
                </a:solidFill>
                <a:latin typeface="Microsoft YaHei"/>
              </a:rPr>
              <a:t>库存 -1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62072" y="3547872"/>
            <a:ext cx="1609344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>
                <a:solidFill>
                  <a:srgbClr val="6B7C88"/>
                </a:solidFill>
                <a:latin typeface="Microsoft YaHei"/>
              </a:rPr>
              <a:t>当前借阅 +1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07992" y="3328416"/>
            <a:ext cx="210312" cy="0"/>
          </a:xfrm>
          <a:prstGeom prst="line">
            <a:avLst/>
          </a:prstGeom>
          <a:ln w="20320">
            <a:solidFill>
              <a:srgbClr val="C878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809744" y="2688336"/>
            <a:ext cx="1609344" cy="1298448"/>
          </a:xfrm>
          <a:prstGeom prst="roundRect">
            <a:avLst>
              <a:gd name="adj" fmla="val 8000"/>
            </a:avLst>
          </a:prstGeom>
          <a:solidFill>
            <a:srgbClr val="FCE9E7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880360"/>
            <a:ext cx="160934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C63D3D"/>
                </a:solidFill>
                <a:latin typeface="Microsoft YaHei"/>
              </a:rPr>
              <a:t>借后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9744" y="3227832"/>
            <a:ext cx="160934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263746"/>
                </a:solidFill>
                <a:latin typeface="Microsoft YaHei"/>
              </a:rPr>
              <a:t>总数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9744" y="3547872"/>
            <a:ext cx="1609344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>
                <a:solidFill>
                  <a:srgbClr val="6B7C88"/>
                </a:solidFill>
                <a:latin typeface="Microsoft YaHei"/>
              </a:rPr>
              <a:t>可借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443984"/>
            <a:ext cx="11887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B7C88"/>
                </a:solidFill>
                <a:latin typeface="Microsoft YaHei"/>
              </a:rPr>
              <a:t>后端约束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4828031"/>
            <a:ext cx="73152" cy="73152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8136" y="4736592"/>
            <a:ext cx="554126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263746"/>
                </a:solidFill>
                <a:latin typeface="Microsoft YaHei"/>
              </a:rPr>
              <a:t>新增：totalCount 必须为正整数，availableCount 由后端初始化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5175503"/>
            <a:ext cx="73152" cy="73152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8136" y="5084064"/>
            <a:ext cx="554126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263746"/>
                </a:solidFill>
                <a:latin typeface="Microsoft YaHei"/>
              </a:rPr>
              <a:t>编辑：总数不得小于当前已借出数，并发修改串行化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" y="5522975"/>
            <a:ext cx="73152" cy="73152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8136" y="5431536"/>
            <a:ext cx="554126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263746"/>
                </a:solidFill>
                <a:latin typeface="Microsoft YaHei"/>
              </a:rPr>
              <a:t>重复借阅：一成一败，库存与当前借阅不穿透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06640" y="1719072"/>
            <a:ext cx="4224528" cy="4297680"/>
          </a:xfrm>
          <a:prstGeom prst="roundRect">
            <a:avLst>
              <a:gd name="adj" fmla="val 8000"/>
            </a:avLst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54112" y="2029968"/>
            <a:ext cx="1828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28D7F2"/>
                </a:solidFill>
                <a:latin typeface="Microsoft YaHei"/>
              </a:rPr>
              <a:t>真实黑盒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54112" y="2450592"/>
            <a:ext cx="201168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9/9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90688" y="3236976"/>
            <a:ext cx="2971800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D4E1E2"/>
                </a:solidFill>
                <a:latin typeface="Microsoft YaHei"/>
              </a:rPr>
              <a:t>库存初始化 · 借还变化
非法总数 · 并发编辑
刷新后查询仍一致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54112" y="4818888"/>
            <a:ext cx="2395728" cy="27432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54112" y="4850892"/>
            <a:ext cx="239572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verify_inventory_http.py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66928" y="6473952"/>
            <a:ext cx="11045952" cy="0"/>
          </a:xfrm>
          <a:prstGeom prst="line">
            <a:avLst/>
          </a:prstGeom>
          <a:ln w="10160">
            <a:solidFill>
              <a:srgbClr val="D9E3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85216" y="6528816"/>
            <a:ext cx="5943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6B7C88"/>
                </a:solidFill>
                <a:latin typeface="Microsoft YaHei"/>
              </a:rPr>
              <a:t>图书馆管理系统 · 五项需求变化 · T4 汇报版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08208" y="6528816"/>
            <a:ext cx="822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6B7C88"/>
                </a:solidFill>
                <a:latin typeface="Microsoft YaHei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8"/>
          </a:solidFill>
          <a:ln>
            <a:solidFill>
              <a:srgbClr val="F7F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45720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Microsoft YaHei"/>
              </a:rPr>
              <a:t>03 / REQUIREMENT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Microsoft YaHei"/>
              </a:rPr>
              <a:t>逾期状态成为可执行的借阅规则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70432"/>
            <a:ext cx="109728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6B7C88"/>
                </a:solidFill>
                <a:latin typeface="Microsoft YaHei"/>
              </a:rPr>
              <a:t>后端按 Asia/Shanghai 计算自然日边界，状态、天数与限制同时返回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19072"/>
            <a:ext cx="658368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29968"/>
            <a:ext cx="10972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102A43"/>
                </a:solidFill>
                <a:latin typeface="Microsoft YaHei"/>
              </a:rPr>
              <a:t>状态机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" y="2706624"/>
            <a:ext cx="1627632" cy="1097280"/>
          </a:xfrm>
          <a:prstGeom prst="roundRect">
            <a:avLst>
              <a:gd name="adj" fmla="val 8000"/>
            </a:avLst>
          </a:prstGeom>
          <a:solidFill>
            <a:srgbClr val="E6FFFA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907792"/>
            <a:ext cx="16276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0F766E"/>
                </a:solidFill>
                <a:latin typeface="Microsoft YaHei"/>
              </a:rPr>
              <a:t>NORMAL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273552"/>
            <a:ext cx="162763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>
                <a:solidFill>
                  <a:srgbClr val="263746"/>
                </a:solidFill>
                <a:latin typeface="Microsoft YaHei"/>
              </a:rPr>
              <a:t>&gt; 3 天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96896" y="3246120"/>
            <a:ext cx="192024" cy="0"/>
          </a:xfrm>
          <a:prstGeom prst="line">
            <a:avLst/>
          </a:prstGeom>
          <a:ln w="2286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880360" y="2706624"/>
            <a:ext cx="1627632" cy="1097280"/>
          </a:xfrm>
          <a:prstGeom prst="roundRect">
            <a:avLst>
              <a:gd name="adj" fmla="val 8000"/>
            </a:avLst>
          </a:prstGeom>
          <a:solidFill>
            <a:srgbClr val="F8E8DF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2907792"/>
            <a:ext cx="16276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C87845"/>
                </a:solidFill>
                <a:latin typeface="Microsoft YaHei"/>
              </a:rPr>
              <a:t>DUE_SOON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3273552"/>
            <a:ext cx="162763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>
                <a:solidFill>
                  <a:srgbClr val="263746"/>
                </a:solidFill>
                <a:latin typeface="Microsoft YaHei"/>
              </a:rPr>
              <a:t>0–3 天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44568" y="3246120"/>
            <a:ext cx="192024" cy="0"/>
          </a:xfrm>
          <a:prstGeom prst="line">
            <a:avLst/>
          </a:prstGeom>
          <a:ln w="22860">
            <a:solidFill>
              <a:srgbClr val="C878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828031" y="2706624"/>
            <a:ext cx="1627632" cy="1097280"/>
          </a:xfrm>
          <a:prstGeom prst="roundRect">
            <a:avLst>
              <a:gd name="adj" fmla="val 8000"/>
            </a:avLst>
          </a:prstGeom>
          <a:solidFill>
            <a:srgbClr val="FCE9E7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8031" y="2907792"/>
            <a:ext cx="16276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C63D3D"/>
                </a:solidFill>
                <a:latin typeface="Microsoft YaHei"/>
              </a:rPr>
              <a:t>OVERDUE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8031" y="3273552"/>
            <a:ext cx="162763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>
                <a:solidFill>
                  <a:srgbClr val="263746"/>
                </a:solidFill>
                <a:latin typeface="Microsoft YaHei"/>
              </a:rPr>
              <a:t>早于今天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4352544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6B7C88"/>
                </a:solidFill>
                <a:latin typeface="Microsoft YaHei"/>
              </a:rPr>
              <a:t>逾期后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4315968"/>
            <a:ext cx="48920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263746"/>
                </a:solidFill>
                <a:latin typeface="Microsoft YaHei"/>
              </a:rPr>
              <a:t>借新书 ✕   续借逾期图书 ✕   归还后自动解除限制 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5001768"/>
            <a:ext cx="56692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F766E"/>
                </a:solidFill>
                <a:latin typeface="Microsoft YaHei"/>
              </a:rPr>
              <a:t>规则可被筛选、纠正、复验，而不是只在页面上显示颜色。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06640" y="1719072"/>
            <a:ext cx="4224528" cy="4297680"/>
          </a:xfrm>
          <a:prstGeom prst="roundRect">
            <a:avLst>
              <a:gd name="adj" fmla="val 8000"/>
            </a:avLst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54112" y="2029968"/>
            <a:ext cx="1828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28D7F2"/>
                </a:solidFill>
                <a:latin typeface="Microsoft YaHei"/>
              </a:rPr>
              <a:t>真实黑盒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54112" y="2450592"/>
            <a:ext cx="201168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6/6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90688" y="3236976"/>
            <a:ext cx="306324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D4E1E2"/>
                </a:solidFill>
                <a:latin typeface="Microsoft YaHei"/>
              </a:rPr>
              <a:t>+30 天生成 · 昨天=1天逾期
借阅/续借限制 · overdueOnly
归还后自动解除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54112" y="4818888"/>
            <a:ext cx="2194560" cy="274320"/>
          </a:xfrm>
          <a:prstGeom prst="roundRect">
            <a:avLst>
              <a:gd name="adj" fmla="val 8000"/>
            </a:avLst>
          </a:prstGeom>
          <a:solidFill>
            <a:srgbClr val="C63D3D"/>
          </a:solidFill>
          <a:ln>
            <a:solidFill>
              <a:srgbClr val="C63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54112" y="4850892"/>
            <a:ext cx="21945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verify_overdue_http.py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66928" y="6473952"/>
            <a:ext cx="11045952" cy="0"/>
          </a:xfrm>
          <a:prstGeom prst="line">
            <a:avLst/>
          </a:prstGeom>
          <a:ln w="10160">
            <a:solidFill>
              <a:srgbClr val="D9E3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85216" y="6528816"/>
            <a:ext cx="5943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6B7C88"/>
                </a:solidFill>
                <a:latin typeface="Microsoft YaHei"/>
              </a:rPr>
              <a:t>图书馆管理系统 · 五项需求变化 · T4 汇报版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08208" y="6528816"/>
            <a:ext cx="822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6B7C88"/>
                </a:solidFill>
                <a:latin typeface="Microsoft YaHei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8"/>
          </a:solidFill>
          <a:ln>
            <a:solidFill>
              <a:srgbClr val="F7F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45720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Microsoft YaHei"/>
              </a:rPr>
              <a:t>04 / REQUIREMENT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Microsoft YaHei"/>
              </a:rPr>
              <a:t>借书、还书、续借收敛为事务业务接口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70432"/>
            <a:ext cx="109728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6B7C88"/>
                </a:solidFill>
                <a:latin typeface="Microsoft YaHei"/>
              </a:rPr>
              <a:t>前端只提交 readerId + isbn；后端一次完成校验、库存、日期与三表更新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19072"/>
            <a:ext cx="11064240" cy="3529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542032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8E8DF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816352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C87845"/>
                </a:solidFill>
                <a:latin typeface="Microsoft YaHei"/>
              </a:rPr>
              <a:t>页面点击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0040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>
                <a:solidFill>
                  <a:srgbClr val="263746"/>
                </a:solidFill>
                <a:latin typeface="Microsoft YaHei"/>
              </a:rPr>
              <a:t>readerId + isbn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44368" y="3218688"/>
            <a:ext cx="365760" cy="0"/>
          </a:xfrm>
          <a:prstGeom prst="line">
            <a:avLst/>
          </a:prstGeom>
          <a:ln w="25400">
            <a:solidFill>
              <a:srgbClr val="C878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401568" y="2542032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E6FFFA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93008" y="2816352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0F766E"/>
                </a:solidFill>
                <a:latin typeface="Microsoft YaHei"/>
              </a:rPr>
              <a:t>Controller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320040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>
                <a:solidFill>
                  <a:srgbClr val="263746"/>
                </a:solidFill>
                <a:latin typeface="Microsoft YaHei"/>
              </a:rPr>
              <a:t>/circulation/*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31536" y="3218688"/>
            <a:ext cx="365760" cy="0"/>
          </a:xfrm>
          <a:prstGeom prst="line">
            <a:avLst/>
          </a:prstGeom>
          <a:ln w="2540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888736" y="2542032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E8ECF7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0176" y="2816352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8B7CFF"/>
                </a:solidFill>
                <a:latin typeface="Microsoft YaHei"/>
              </a:rPr>
              <a:t>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0176" y="320040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>
                <a:solidFill>
                  <a:srgbClr val="263746"/>
                </a:solidFill>
                <a:latin typeface="Microsoft YaHei"/>
              </a:rPr>
              <a:t>@Transactional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918704" y="3218688"/>
            <a:ext cx="365760" cy="0"/>
          </a:xfrm>
          <a:prstGeom prst="line">
            <a:avLst/>
          </a:prstGeom>
          <a:ln w="25400">
            <a:solidFill>
              <a:srgbClr val="8B7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375904" y="2542032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E6FFFA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67344" y="2816352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0F766E"/>
                </a:solidFill>
                <a:latin typeface="Microsoft YaHei"/>
              </a:rPr>
              <a:t>三表一致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3200400"/>
            <a:ext cx="18288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>
                <a:solidFill>
                  <a:srgbClr val="263746"/>
                </a:solidFill>
                <a:latin typeface="Microsoft YaHei"/>
              </a:rPr>
              <a:t>book · current · history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443984"/>
            <a:ext cx="9966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0F766E"/>
                </a:solidFill>
                <a:latin typeface="Microsoft YaHei"/>
              </a:rPr>
              <a:t>失败路径数据不变：库存不足、重复借阅、重复还书、第二次续借都会被后端拒绝。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486400"/>
            <a:ext cx="22402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8368" y="5486400"/>
            <a:ext cx="73152" cy="100584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5623560"/>
            <a:ext cx="19659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102A43"/>
                </a:solidFill>
                <a:latin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" y="6108192"/>
            <a:ext cx="19659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6B7C88"/>
                </a:solidFill>
                <a:latin typeface="Microsoft YaHei"/>
              </a:rPr>
              <a:t>业务接口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81528" y="5486400"/>
            <a:ext cx="22402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878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081528" y="5486400"/>
            <a:ext cx="73152" cy="1005840"/>
          </a:xfrm>
          <a:prstGeom prst="roundRect">
            <a:avLst>
              <a:gd name="adj" fmla="val 8000"/>
            </a:avLst>
          </a:prstGeom>
          <a:solidFill>
            <a:srgbClr val="C87845"/>
          </a:solidFill>
          <a:ln>
            <a:solidFill>
              <a:srgbClr val="C878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82696" y="5623560"/>
            <a:ext cx="19659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102A43"/>
                </a:solidFill>
                <a:latin typeface="Microsoft YaHe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82696" y="6108192"/>
            <a:ext cx="19659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6B7C88"/>
                </a:solidFill>
                <a:latin typeface="Microsoft YaHei"/>
              </a:rPr>
              <a:t>页面一次写请求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04688" y="5486400"/>
            <a:ext cx="22402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504688" y="5486400"/>
            <a:ext cx="73152" cy="1005840"/>
          </a:xfrm>
          <a:prstGeom prst="roundRect">
            <a:avLst>
              <a:gd name="adj" fmla="val 8000"/>
            </a:avLst>
          </a:prstGeom>
          <a:solidFill>
            <a:srgbClr val="8B7CFF"/>
          </a:solidFill>
          <a:ln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855" y="5623560"/>
            <a:ext cx="19659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102A43"/>
                </a:solidFill>
                <a:latin typeface="Microsoft YaHei"/>
              </a:rPr>
              <a:t>6/6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05855" y="6108192"/>
            <a:ext cx="19659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6B7C88"/>
                </a:solidFill>
                <a:latin typeface="Microsoft YaHei"/>
              </a:rPr>
              <a:t>借还续黑盒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27848" y="5486400"/>
            <a:ext cx="320040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63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927848" y="5486400"/>
            <a:ext cx="73152" cy="1005840"/>
          </a:xfrm>
          <a:prstGeom prst="roundRect">
            <a:avLst>
              <a:gd name="adj" fmla="val 8000"/>
            </a:avLst>
          </a:prstGeom>
          <a:solidFill>
            <a:srgbClr val="C63D3D"/>
          </a:solidFill>
          <a:ln>
            <a:solidFill>
              <a:srgbClr val="C63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29016" y="5623560"/>
            <a:ext cx="2926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102A43"/>
                </a:solidFill>
                <a:latin typeface="Microsoft YaHei"/>
              </a:rPr>
              <a:t>PASS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9016" y="6108192"/>
            <a:ext cx="2926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6B7C88"/>
                </a:solidFill>
                <a:latin typeface="Microsoft YaHei"/>
              </a:rPr>
              <a:t>失败路径数据不变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66928" y="6473952"/>
            <a:ext cx="11045952" cy="0"/>
          </a:xfrm>
          <a:prstGeom prst="line">
            <a:avLst/>
          </a:prstGeom>
          <a:ln w="10160">
            <a:solidFill>
              <a:srgbClr val="D9E3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85216" y="6528816"/>
            <a:ext cx="5943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6B7C88"/>
                </a:solidFill>
                <a:latin typeface="Microsoft YaHei"/>
              </a:rPr>
              <a:t>图书馆管理系统 · 五项需求变化 · T4 汇报版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8208" y="6528816"/>
            <a:ext cx="822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6B7C88"/>
                </a:solidFill>
                <a:latin typeface="Microsoft YaHei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8"/>
          </a:solidFill>
          <a:ln>
            <a:solidFill>
              <a:srgbClr val="F7F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45720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Microsoft YaHei"/>
              </a:rPr>
              <a:t>05 / REQUIREMENT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Microsoft YaHei"/>
              </a:rPr>
              <a:t>用户管理补上“新增—约束—删除”闭环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70432"/>
            <a:ext cx="109728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6B7C88"/>
                </a:solidFill>
                <a:latin typeface="Microsoft YaHei"/>
              </a:rPr>
              <a:t>管理员可新增普通读者；有未归还图书时禁止删除，归还后才可清理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19072"/>
            <a:ext cx="6720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29968"/>
            <a:ext cx="25603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102A43"/>
                </a:solidFill>
                <a:latin typeface="Microsoft YaHei"/>
              </a:rPr>
              <a:t>管理员操作链路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" y="2779776"/>
            <a:ext cx="1298448" cy="1261872"/>
          </a:xfrm>
          <a:prstGeom prst="roundRect">
            <a:avLst>
              <a:gd name="adj" fmla="val 8000"/>
            </a:avLst>
          </a:prstGeom>
          <a:solidFill>
            <a:srgbClr val="E6FFFA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017520"/>
            <a:ext cx="129844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0F766E"/>
                </a:solidFill>
                <a:latin typeface="Microsoft YaHei"/>
              </a:rPr>
              <a:t>新增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383280"/>
            <a:ext cx="129844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>
                <a:solidFill>
                  <a:srgbClr val="263746"/>
                </a:solidFill>
                <a:latin typeface="Microsoft YaHei"/>
              </a:rPr>
              <a:t>role=2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212848" y="3383280"/>
            <a:ext cx="146304" cy="0"/>
          </a:xfrm>
          <a:prstGeom prst="line">
            <a:avLst/>
          </a:prstGeom>
          <a:ln w="19050">
            <a:solidFill>
              <a:srgbClr val="0F7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450591" y="2779776"/>
            <a:ext cx="1298448" cy="1261872"/>
          </a:xfrm>
          <a:prstGeom prst="roundRect">
            <a:avLst>
              <a:gd name="adj" fmla="val 8000"/>
            </a:avLst>
          </a:prstGeom>
          <a:solidFill>
            <a:srgbClr val="F8E8DF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50591" y="3017520"/>
            <a:ext cx="129844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C87845"/>
                </a:solidFill>
                <a:latin typeface="Microsoft YaHei"/>
              </a:rPr>
              <a:t>重复名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0591" y="3383280"/>
            <a:ext cx="129844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>
                <a:solidFill>
                  <a:srgbClr val="263746"/>
                </a:solidFill>
                <a:latin typeface="Microsoft YaHei"/>
              </a:rPr>
              <a:t>拒绝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767327" y="3383280"/>
            <a:ext cx="146304" cy="0"/>
          </a:xfrm>
          <a:prstGeom prst="line">
            <a:avLst/>
          </a:prstGeom>
          <a:ln w="19050">
            <a:solidFill>
              <a:srgbClr val="C878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005072" y="2779776"/>
            <a:ext cx="1298448" cy="1261872"/>
          </a:xfrm>
          <a:prstGeom prst="roundRect">
            <a:avLst>
              <a:gd name="adj" fmla="val 8000"/>
            </a:avLst>
          </a:prstGeom>
          <a:solidFill>
            <a:srgbClr val="FCE9E7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05072" y="3017520"/>
            <a:ext cx="129844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C63D3D"/>
                </a:solidFill>
                <a:latin typeface="Microsoft YaHei"/>
              </a:rPr>
              <a:t>有借阅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05072" y="3383280"/>
            <a:ext cx="129844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>
                <a:solidFill>
                  <a:srgbClr val="263746"/>
                </a:solidFill>
                <a:latin typeface="Microsoft YaHei"/>
              </a:rPr>
              <a:t>禁止删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21808" y="3383280"/>
            <a:ext cx="146304" cy="0"/>
          </a:xfrm>
          <a:prstGeom prst="line">
            <a:avLst/>
          </a:prstGeom>
          <a:ln w="19050">
            <a:solidFill>
              <a:srgbClr val="C63D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559552" y="2779776"/>
            <a:ext cx="1298448" cy="1261872"/>
          </a:xfrm>
          <a:prstGeom prst="roundRect">
            <a:avLst>
              <a:gd name="adj" fmla="val 8000"/>
            </a:avLst>
          </a:prstGeom>
          <a:solidFill>
            <a:srgbClr val="E6FFFA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59552" y="3017520"/>
            <a:ext cx="129844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0F766E"/>
                </a:solidFill>
                <a:latin typeface="Microsoft YaHei"/>
              </a:rPr>
              <a:t>归还后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59552" y="3383280"/>
            <a:ext cx="129844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>
                <a:solidFill>
                  <a:srgbClr val="263746"/>
                </a:solidFill>
                <a:latin typeface="Microsoft YaHei"/>
              </a:rPr>
              <a:t>成功删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6112" y="4590288"/>
            <a:ext cx="73152" cy="73152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9848" y="4498848"/>
            <a:ext cx="5586983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263746"/>
                </a:solidFill>
                <a:latin typeface="Microsoft YaHei"/>
              </a:rPr>
              <a:t>operatorId 对应管理员才可新增 / 删除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" y="4937759"/>
            <a:ext cx="73152" cy="73152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9848" y="4846320"/>
            <a:ext cx="5586983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263746"/>
                </a:solidFill>
                <a:latin typeface="Microsoft YaHei"/>
              </a:rPr>
              <a:t>管理员目标与旧批量删除路径明确拒绝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5285231"/>
            <a:ext cx="73152" cy="73152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9848" y="5193792"/>
            <a:ext cx="5586983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263746"/>
                </a:solidFill>
                <a:latin typeface="Microsoft YaHei"/>
              </a:rPr>
              <a:t>正式 HTTP 黑盒覆盖借阅中删除保护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16368" y="1719072"/>
            <a:ext cx="4114800" cy="4297680"/>
          </a:xfrm>
          <a:prstGeom prst="roundRect">
            <a:avLst>
              <a:gd name="adj" fmla="val 8000"/>
            </a:avLst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7264" y="2029968"/>
            <a:ext cx="1828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28D7F2"/>
                </a:solidFill>
                <a:latin typeface="Microsoft YaHei"/>
              </a:rPr>
              <a:t>真实黑盒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27264" y="2450592"/>
            <a:ext cx="201168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7/7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236976"/>
            <a:ext cx="30632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D4E1E2"/>
                </a:solidFill>
                <a:latin typeface="Microsoft YaHei"/>
              </a:rPr>
              <a:t>新增可登录 · 重复名拒绝
有借阅禁止删 · 归还后可删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27264" y="4160520"/>
            <a:ext cx="2057400" cy="27432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27264" y="4192524"/>
            <a:ext cx="2057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uk_user_username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827264" y="4590288"/>
            <a:ext cx="2852928" cy="274320"/>
          </a:xfrm>
          <a:prstGeom prst="roundRect">
            <a:avLst>
              <a:gd name="adj" fmla="val 8000"/>
            </a:avLst>
          </a:prstGeom>
          <a:solidFill>
            <a:srgbClr val="8B7CFF"/>
          </a:solidFill>
          <a:ln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27264" y="4622292"/>
            <a:ext cx="285292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verify_user_management_http.py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66928" y="6473952"/>
            <a:ext cx="11045952" cy="0"/>
          </a:xfrm>
          <a:prstGeom prst="line">
            <a:avLst/>
          </a:prstGeom>
          <a:ln w="10160">
            <a:solidFill>
              <a:srgbClr val="D9E3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85216" y="6528816"/>
            <a:ext cx="5943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6B7C88"/>
                </a:solidFill>
                <a:latin typeface="Microsoft YaHei"/>
              </a:rPr>
              <a:t>图书馆管理系统 · 五项需求变化 · T4 汇报版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08208" y="6528816"/>
            <a:ext cx="822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6B7C88"/>
                </a:solidFill>
                <a:latin typeface="Microsoft YaHei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8"/>
          </a:solidFill>
          <a:ln>
            <a:solidFill>
              <a:srgbClr val="F7F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45720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Microsoft YaHei"/>
              </a:rPr>
              <a:t>07 / BEFORE → LATEST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Microsoft YaHei"/>
              </a:rPr>
              <a:t>保留原始主线：改造前 vs 最新 academy 默认风格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70432"/>
            <a:ext cx="109728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6B7C88"/>
                </a:solidFill>
                <a:latin typeface="Microsoft YaHei"/>
              </a:rPr>
              <a:t>原始仓库截图与最终真实 academy 截图并列；三主题差异在后续页面展开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64208"/>
            <a:ext cx="5413248" cy="18470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92224"/>
            <a:ext cx="18288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Microsoft YaHei"/>
              </a:rPr>
              <a:t>登录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50208" y="1773936"/>
            <a:ext cx="566928" cy="274320"/>
          </a:xfrm>
          <a:prstGeom prst="roundRect">
            <a:avLst>
              <a:gd name="adj" fmla="val 8000"/>
            </a:avLst>
          </a:prstGeom>
          <a:solidFill>
            <a:srgbClr val="8796A1"/>
          </a:solidFill>
          <a:ln>
            <a:solidFill>
              <a:srgbClr val="8796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50208" y="1805939"/>
            <a:ext cx="56692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原始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773936"/>
            <a:ext cx="1051560" cy="274320"/>
          </a:xfrm>
          <a:prstGeom prst="roundRect">
            <a:avLst>
              <a:gd name="adj" fmla="val 8000"/>
            </a:avLst>
          </a:prstGeom>
          <a:solidFill>
            <a:srgbClr val="B44D3C"/>
          </a:solidFill>
          <a:ln>
            <a:solidFill>
              <a:srgbClr val="B44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805939"/>
            <a:ext cx="10515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academy 最新</a:t>
            </a:r>
          </a:p>
        </p:txBody>
      </p:sp>
      <p:pic>
        <p:nvPicPr>
          <p:cNvPr id="12" name="Picture 11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3801" y="2139696"/>
            <a:ext cx="1086029" cy="1188720"/>
          </a:xfrm>
          <a:prstGeom prst="rect">
            <a:avLst/>
          </a:prstGeom>
        </p:spPr>
      </p:pic>
      <p:pic>
        <p:nvPicPr>
          <p:cNvPr id="13" name="Picture 12" descr="academy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0168" y="2139696"/>
            <a:ext cx="1901952" cy="11887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17920" y="1664208"/>
            <a:ext cx="5413248" cy="18470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792224"/>
            <a:ext cx="18288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Microsoft YaHei"/>
              </a:rPr>
              <a:t>Dashboard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0" y="1773936"/>
            <a:ext cx="566928" cy="274320"/>
          </a:xfrm>
          <a:prstGeom prst="roundRect">
            <a:avLst>
              <a:gd name="adj" fmla="val 8000"/>
            </a:avLst>
          </a:prstGeom>
          <a:solidFill>
            <a:srgbClr val="8796A1"/>
          </a:solidFill>
          <a:ln>
            <a:solidFill>
              <a:srgbClr val="8796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0" y="1805939"/>
            <a:ext cx="56692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原始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22992" y="1773936"/>
            <a:ext cx="1051560" cy="274320"/>
          </a:xfrm>
          <a:prstGeom prst="roundRect">
            <a:avLst>
              <a:gd name="adj" fmla="val 8000"/>
            </a:avLst>
          </a:prstGeom>
          <a:solidFill>
            <a:srgbClr val="B44D3C"/>
          </a:solidFill>
          <a:ln>
            <a:solidFill>
              <a:srgbClr val="B44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22992" y="1805939"/>
            <a:ext cx="10515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academy 最新</a:t>
            </a:r>
          </a:p>
        </p:txBody>
      </p:sp>
      <p:pic>
        <p:nvPicPr>
          <p:cNvPr id="20" name="Picture 19" descr="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2" y="2258817"/>
            <a:ext cx="2450592" cy="950477"/>
          </a:xfrm>
          <a:prstGeom prst="rect">
            <a:avLst/>
          </a:prstGeom>
        </p:spPr>
      </p:pic>
      <p:pic>
        <p:nvPicPr>
          <p:cNvPr id="21" name="Picture 20" descr="academy-dash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3108" y="2139696"/>
            <a:ext cx="1458055" cy="118872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566928" y="3703320"/>
            <a:ext cx="5413248" cy="18470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31335"/>
            <a:ext cx="18288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Microsoft YaHei"/>
              </a:rPr>
              <a:t>图书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50208" y="3813048"/>
            <a:ext cx="566928" cy="274320"/>
          </a:xfrm>
          <a:prstGeom prst="roundRect">
            <a:avLst>
              <a:gd name="adj" fmla="val 8000"/>
            </a:avLst>
          </a:prstGeom>
          <a:solidFill>
            <a:srgbClr val="8796A1"/>
          </a:solidFill>
          <a:ln>
            <a:solidFill>
              <a:srgbClr val="8796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50208" y="3845052"/>
            <a:ext cx="56692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原始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0" y="3813048"/>
            <a:ext cx="1051560" cy="274320"/>
          </a:xfrm>
          <a:prstGeom prst="roundRect">
            <a:avLst>
              <a:gd name="adj" fmla="val 8000"/>
            </a:avLst>
          </a:prstGeom>
          <a:solidFill>
            <a:srgbClr val="B44D3C"/>
          </a:solidFill>
          <a:ln>
            <a:solidFill>
              <a:srgbClr val="B44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3845052"/>
            <a:ext cx="10515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academy 最新</a:t>
            </a:r>
          </a:p>
        </p:txBody>
      </p:sp>
      <p:pic>
        <p:nvPicPr>
          <p:cNvPr id="28" name="Picture 27" descr="boo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4419238"/>
            <a:ext cx="2450592" cy="707859"/>
          </a:xfrm>
          <a:prstGeom prst="rect">
            <a:avLst/>
          </a:prstGeom>
        </p:spPr>
      </p:pic>
      <p:pic>
        <p:nvPicPr>
          <p:cNvPr id="29" name="Picture 28" descr="academy-boo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30168" y="4178808"/>
            <a:ext cx="1901952" cy="118872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6217920" y="3703320"/>
            <a:ext cx="5413248" cy="18470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2512" y="3831335"/>
            <a:ext cx="18288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Microsoft YaHei"/>
              </a:rPr>
              <a:t>用户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01200" y="3813048"/>
            <a:ext cx="566928" cy="274320"/>
          </a:xfrm>
          <a:prstGeom prst="roundRect">
            <a:avLst>
              <a:gd name="adj" fmla="val 8000"/>
            </a:avLst>
          </a:prstGeom>
          <a:solidFill>
            <a:srgbClr val="8796A1"/>
          </a:solidFill>
          <a:ln>
            <a:solidFill>
              <a:srgbClr val="8796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0" y="3845052"/>
            <a:ext cx="56692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原始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22992" y="3813048"/>
            <a:ext cx="1051560" cy="274320"/>
          </a:xfrm>
          <a:prstGeom prst="roundRect">
            <a:avLst>
              <a:gd name="adj" fmla="val 8000"/>
            </a:avLst>
          </a:prstGeom>
          <a:solidFill>
            <a:srgbClr val="B44D3C"/>
          </a:solidFill>
          <a:ln>
            <a:solidFill>
              <a:srgbClr val="B44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22992" y="3845052"/>
            <a:ext cx="10515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academy 最新</a:t>
            </a:r>
          </a:p>
        </p:txBody>
      </p:sp>
      <p:pic>
        <p:nvPicPr>
          <p:cNvPr id="36" name="Picture 35" descr="read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2512" y="4478447"/>
            <a:ext cx="2450592" cy="589441"/>
          </a:xfrm>
          <a:prstGeom prst="rect">
            <a:avLst/>
          </a:prstGeom>
        </p:spPr>
      </p:pic>
      <p:pic>
        <p:nvPicPr>
          <p:cNvPr id="37" name="Picture 36" descr="academy-use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08858" y="4178808"/>
            <a:ext cx="1846555" cy="1188720"/>
          </a:xfrm>
          <a:prstGeom prst="rect">
            <a:avLst/>
          </a:prstGeom>
        </p:spPr>
      </p:pic>
      <p:cxnSp>
        <p:nvCxnSpPr>
          <p:cNvPr id="38" name="Connector 37"/>
          <p:cNvCxnSpPr/>
          <p:nvPr/>
        </p:nvCxnSpPr>
        <p:spPr>
          <a:xfrm>
            <a:off x="566928" y="6473952"/>
            <a:ext cx="11045952" cy="0"/>
          </a:xfrm>
          <a:prstGeom prst="line">
            <a:avLst/>
          </a:prstGeom>
          <a:ln w="10160">
            <a:solidFill>
              <a:srgbClr val="D9E3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85216" y="6528816"/>
            <a:ext cx="5943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6B7C88"/>
                </a:solidFill>
                <a:latin typeface="Microsoft YaHei"/>
              </a:rPr>
              <a:t>图书馆管理系统 · 五项需求变化 · T4 汇报版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08208" y="6528816"/>
            <a:ext cx="822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6B7C88"/>
                </a:solidFill>
                <a:latin typeface="Microsoft YaHei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8"/>
          </a:solidFill>
          <a:ln>
            <a:solidFill>
              <a:srgbClr val="F7F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45720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Microsoft YaHei"/>
              </a:rPr>
              <a:t>08 / REQUIREMENT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Microsoft YaHei"/>
              </a:rPr>
              <a:t>最新三风格总览：同一业务，不同工作方式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70432"/>
            <a:ext cx="109728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6B7C88"/>
                </a:solidFill>
                <a:latin typeface="Microsoft YaHei"/>
              </a:rPr>
              <a:t>默认 academy；登录前和登录后都可切换，localStorage 持久化，切换无需刷新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19072"/>
            <a:ext cx="3511296" cy="4498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67512" y="1901952"/>
            <a:ext cx="3163824" cy="27432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33956"/>
            <a:ext cx="3163824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完整左栏运营台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2295144"/>
            <a:ext cx="3273552" cy="20665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tlas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322576"/>
            <a:ext cx="3218688" cy="2011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" y="4626864"/>
            <a:ext cx="3054096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263746"/>
                </a:solidFill>
                <a:latin typeface="Microsoft YaHei"/>
              </a:rPr>
              <a:t>完整侧栏 · 顶部状态栏 · 高信息密度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358384"/>
            <a:ext cx="3054096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F766E"/>
                </a:solidFill>
                <a:latin typeface="Microsoft YaHei"/>
              </a:rPr>
              <a:t>高密度运营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59" y="1719072"/>
            <a:ext cx="3511296" cy="4498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B44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16551" y="1901952"/>
            <a:ext cx="3163824" cy="274320"/>
          </a:xfrm>
          <a:prstGeom prst="roundRect">
            <a:avLst>
              <a:gd name="adj" fmla="val 8000"/>
            </a:avLst>
          </a:prstGeom>
          <a:solidFill>
            <a:srgbClr val="B44D3C"/>
          </a:solidFill>
          <a:ln>
            <a:solidFill>
              <a:srgbClr val="B44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6551" y="1933956"/>
            <a:ext cx="3163824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顶部导航书院分栏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70831" y="2295144"/>
            <a:ext cx="3273552" cy="20665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cademy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8264" y="2322576"/>
            <a:ext cx="3218688" cy="20116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480559" y="4626864"/>
            <a:ext cx="3054096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263746"/>
                </a:solidFill>
                <a:latin typeface="Microsoft YaHei"/>
              </a:rPr>
              <a:t>顶部横向导航 · 纸张留白 · 居中内容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59" y="5358384"/>
            <a:ext cx="3054096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B44D3C"/>
                </a:solidFill>
                <a:latin typeface="Microsoft YaHei"/>
              </a:rPr>
              <a:t>默认书院阅读风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01000" y="1719072"/>
            <a:ext cx="3511296" cy="4498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65592" y="1901952"/>
            <a:ext cx="3163824" cy="274320"/>
          </a:xfrm>
          <a:prstGeom prst="roundRect">
            <a:avLst>
              <a:gd name="adj" fmla="val 8000"/>
            </a:avLst>
          </a:prstGeom>
          <a:solidFill>
            <a:srgbClr val="8B7CFF"/>
          </a:solidFill>
          <a:ln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65592" y="1933956"/>
            <a:ext cx="3163824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窄轨道数字指挥舱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19872" y="2295144"/>
            <a:ext cx="3273552" cy="20665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ommand-log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1954" y="2322576"/>
            <a:ext cx="3169386" cy="20116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229600" y="4626864"/>
            <a:ext cx="3054096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263746"/>
                </a:solidFill>
                <a:latin typeface="Microsoft YaHei"/>
              </a:rPr>
              <a:t>窄图标轨道 · 网格面板 · 悬浮工具栏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5358384"/>
            <a:ext cx="3054096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8B7CFF"/>
                </a:solidFill>
                <a:latin typeface="Microsoft YaHei"/>
              </a:rPr>
              <a:t>实时指挥舱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272784"/>
            <a:ext cx="10698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0F766E"/>
                </a:solidFill>
                <a:latin typeface="Microsoft YaHei"/>
              </a:rPr>
              <a:t>三套框架共享业务页面与 API，不复制三份路由或保存逻辑。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66928" y="6473952"/>
            <a:ext cx="11045952" cy="0"/>
          </a:xfrm>
          <a:prstGeom prst="line">
            <a:avLst/>
          </a:prstGeom>
          <a:ln w="10160">
            <a:solidFill>
              <a:srgbClr val="D9E3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85216" y="6528816"/>
            <a:ext cx="5943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6B7C88"/>
                </a:solidFill>
                <a:latin typeface="Microsoft YaHei"/>
              </a:rPr>
              <a:t>图书馆管理系统 · 五项需求变化 · T4 汇报版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08208" y="6528816"/>
            <a:ext cx="822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6B7C88"/>
                </a:solidFill>
                <a:latin typeface="Microsoft YaHei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8"/>
          </a:solidFill>
          <a:ln>
            <a:solidFill>
              <a:srgbClr val="F7F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45720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Microsoft YaHei"/>
              </a:rPr>
              <a:t>09 / FINAL SCREENSHOTS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Microsoft YaHei"/>
              </a:rPr>
              <a:t>Login：登录前即可选择三种工作方式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70432"/>
            <a:ext cx="109728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6B7C88"/>
                </a:solidFill>
                <a:latin typeface="Microsoft YaHei"/>
              </a:rPr>
              <a:t>同一账号入口，三种视觉框架；登录后 Header 保持同一选择器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19072"/>
            <a:ext cx="3511296" cy="44439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67512" y="1901952"/>
            <a:ext cx="3163824" cy="27432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33956"/>
            <a:ext cx="3163824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atlas · 完整左栏运营台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2295144"/>
            <a:ext cx="3273552" cy="3346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tlas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962656"/>
            <a:ext cx="3218688" cy="2011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7512" y="5687568"/>
            <a:ext cx="3163824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263746"/>
                </a:solidFill>
                <a:latin typeface="Microsoft YaHei"/>
              </a:rPr>
              <a:t>高密度左栏 + 顶部状态栏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59" y="1719072"/>
            <a:ext cx="3511296" cy="44439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B44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16551" y="1901952"/>
            <a:ext cx="3163824" cy="274320"/>
          </a:xfrm>
          <a:prstGeom prst="roundRect">
            <a:avLst>
              <a:gd name="adj" fmla="val 8000"/>
            </a:avLst>
          </a:prstGeom>
          <a:solidFill>
            <a:srgbClr val="B44D3C"/>
          </a:solidFill>
          <a:ln>
            <a:solidFill>
              <a:srgbClr val="B44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1" y="1933956"/>
            <a:ext cx="3163824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academy · 顶部导航书院分栏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1" y="2295144"/>
            <a:ext cx="3273552" cy="3346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cademy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8264" y="2962656"/>
            <a:ext cx="3218688" cy="20116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416551" y="5687568"/>
            <a:ext cx="3163824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263746"/>
                </a:solidFill>
                <a:latin typeface="Microsoft YaHei"/>
              </a:rPr>
              <a:t>顶部横向导航 + 居中纸张内容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1719072"/>
            <a:ext cx="3511296" cy="44439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65592" y="1901952"/>
            <a:ext cx="3163824" cy="274320"/>
          </a:xfrm>
          <a:prstGeom prst="roundRect">
            <a:avLst>
              <a:gd name="adj" fmla="val 8000"/>
            </a:avLst>
          </a:prstGeom>
          <a:solidFill>
            <a:srgbClr val="8B7CFF"/>
          </a:solidFill>
          <a:ln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5592" y="1933956"/>
            <a:ext cx="3163824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command · 窄轨道数字指挥舱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9872" y="2295144"/>
            <a:ext cx="3273552" cy="3346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ommand-log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7304" y="2947009"/>
            <a:ext cx="3218688" cy="204297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165592" y="5687568"/>
            <a:ext cx="3163824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263746"/>
                </a:solidFill>
                <a:latin typeface="Microsoft YaHei"/>
              </a:rPr>
              <a:t>窄图标轨道 + 网格面板 + 悬浮工具栏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944" y="6272784"/>
            <a:ext cx="10789920" cy="274320"/>
          </a:xfrm>
          <a:prstGeom prst="roundRect">
            <a:avLst>
              <a:gd name="adj" fmla="val 8000"/>
            </a:avLst>
          </a:prstGeom>
          <a:solidFill>
            <a:srgbClr val="E6FFFA"/>
          </a:solidFill>
          <a:ln>
            <a:solidFill>
              <a:srgbClr val="E6FF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6318504"/>
            <a:ext cx="1040587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F766E"/>
                </a:solidFill>
                <a:latin typeface="Microsoft YaHei"/>
              </a:rPr>
              <a:t>结论  ·  academy 是首次访问默认值，切换只更新主题状态，不触发整页刷新。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6928" y="6473952"/>
            <a:ext cx="11045952" cy="0"/>
          </a:xfrm>
          <a:prstGeom prst="line">
            <a:avLst/>
          </a:prstGeom>
          <a:ln w="10160">
            <a:solidFill>
              <a:srgbClr val="D9E3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85216" y="6528816"/>
            <a:ext cx="5943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6B7C88"/>
                </a:solidFill>
                <a:latin typeface="Microsoft YaHei"/>
              </a:rPr>
              <a:t>图书馆管理系统 · 五项需求变化 · T4 汇报版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8208" y="6528816"/>
            <a:ext cx="822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6B7C88"/>
                </a:solidFill>
                <a:latin typeface="Microsoft YaHei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8"/>
          </a:solidFill>
          <a:ln>
            <a:solidFill>
              <a:srgbClr val="F7F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45720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Microsoft YaHei"/>
              </a:rPr>
              <a:t>10 / FINAL SCREENSHOTS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Microsoft YaHei"/>
              </a:rPr>
              <a:t>Dashboard：指标与图表随框架重新编排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70432"/>
            <a:ext cx="109728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6B7C88"/>
                </a:solidFill>
                <a:latin typeface="Microsoft YaHei"/>
              </a:rPr>
              <a:t>Atlas 高密度卡片、Academy 杂志式留白、Command 网格控制台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19072"/>
            <a:ext cx="3511296" cy="44439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67512" y="1901952"/>
            <a:ext cx="3163824" cy="27432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33956"/>
            <a:ext cx="3163824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atlas · 完整左栏运营台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2295144"/>
            <a:ext cx="3273552" cy="3346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tlas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953715"/>
            <a:ext cx="3218688" cy="20295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7512" y="5687568"/>
            <a:ext cx="3163824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263746"/>
                </a:solidFill>
                <a:latin typeface="Microsoft YaHei"/>
              </a:rPr>
              <a:t>高密度左栏 + 顶部状态栏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59" y="1719072"/>
            <a:ext cx="3511296" cy="44439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B44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16551" y="1901952"/>
            <a:ext cx="3163824" cy="274320"/>
          </a:xfrm>
          <a:prstGeom prst="roundRect">
            <a:avLst>
              <a:gd name="adj" fmla="val 8000"/>
            </a:avLst>
          </a:prstGeom>
          <a:solidFill>
            <a:srgbClr val="B44D3C"/>
          </a:solidFill>
          <a:ln>
            <a:solidFill>
              <a:srgbClr val="B44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1" y="1933956"/>
            <a:ext cx="3163824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academy · 顶部导航书院分栏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1" y="2295144"/>
            <a:ext cx="3273552" cy="3346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cademy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8264" y="2656433"/>
            <a:ext cx="3218688" cy="26241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416551" y="5687568"/>
            <a:ext cx="3163824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263746"/>
                </a:solidFill>
                <a:latin typeface="Microsoft YaHei"/>
              </a:rPr>
              <a:t>顶部横向导航 + 居中纸张内容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1719072"/>
            <a:ext cx="3511296" cy="44439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65592" y="1901952"/>
            <a:ext cx="3163824" cy="274320"/>
          </a:xfrm>
          <a:prstGeom prst="roundRect">
            <a:avLst>
              <a:gd name="adj" fmla="val 8000"/>
            </a:avLst>
          </a:prstGeom>
          <a:solidFill>
            <a:srgbClr val="8B7CFF"/>
          </a:solidFill>
          <a:ln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5592" y="1933956"/>
            <a:ext cx="3163824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command · 窄轨道数字指挥舱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9872" y="2295144"/>
            <a:ext cx="3273552" cy="3346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ommand-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7304" y="2947009"/>
            <a:ext cx="3218688" cy="204297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165592" y="5687568"/>
            <a:ext cx="3163824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263746"/>
                </a:solidFill>
                <a:latin typeface="Microsoft YaHei"/>
              </a:rPr>
              <a:t>窄图标轨道 + 网格面板 + 悬浮工具栏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944" y="6272784"/>
            <a:ext cx="10789920" cy="274320"/>
          </a:xfrm>
          <a:prstGeom prst="roundRect">
            <a:avLst>
              <a:gd name="adj" fmla="val 8000"/>
            </a:avLst>
          </a:prstGeom>
          <a:solidFill>
            <a:srgbClr val="E6FFFA"/>
          </a:solidFill>
          <a:ln>
            <a:solidFill>
              <a:srgbClr val="E6FF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6318504"/>
            <a:ext cx="1040587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F766E"/>
                </a:solidFill>
                <a:latin typeface="Microsoft YaHei"/>
              </a:rPr>
              <a:t>结论  ·  差异来自布局与信息层级，而不只是颜色。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6928" y="6473952"/>
            <a:ext cx="11045952" cy="0"/>
          </a:xfrm>
          <a:prstGeom prst="line">
            <a:avLst/>
          </a:prstGeom>
          <a:ln w="10160">
            <a:solidFill>
              <a:srgbClr val="D9E3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85216" y="6528816"/>
            <a:ext cx="5943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6B7C88"/>
                </a:solidFill>
                <a:latin typeface="Microsoft YaHei"/>
              </a:rPr>
              <a:t>图书馆管理系统 · 五项需求变化 · T4 汇报版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8208" y="6528816"/>
            <a:ext cx="822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6B7C88"/>
                </a:solidFill>
                <a:latin typeface="Microsoft YaHe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8"/>
          </a:solidFill>
          <a:ln>
            <a:solidFill>
              <a:srgbClr val="F7F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45720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Microsoft YaHei"/>
              </a:rPr>
              <a:t>11 / FINAL SCREENSHOTS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Microsoft YaHei"/>
              </a:rPr>
              <a:t>Book：筛选、操作区与数据表按主题重排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70432"/>
            <a:ext cx="109728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6B7C88"/>
                </a:solidFill>
                <a:latin typeface="Microsoft YaHei"/>
              </a:rPr>
              <a:t>三主题均使用同一业务 methods；库存、借阅、编辑行为保持不变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19072"/>
            <a:ext cx="3511296" cy="44439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67512" y="1901952"/>
            <a:ext cx="3163824" cy="27432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33956"/>
            <a:ext cx="3163824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atlas · 完整左栏运营台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2295144"/>
            <a:ext cx="3273552" cy="3346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tlas-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912364"/>
            <a:ext cx="3218688" cy="2112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7512" y="5687568"/>
            <a:ext cx="3163824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263746"/>
                </a:solidFill>
                <a:latin typeface="Microsoft YaHei"/>
              </a:rPr>
              <a:t>高密度左栏 + 顶部状态栏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59" y="1719072"/>
            <a:ext cx="3511296" cy="44439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B44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16551" y="1901952"/>
            <a:ext cx="3163824" cy="274320"/>
          </a:xfrm>
          <a:prstGeom prst="roundRect">
            <a:avLst>
              <a:gd name="adj" fmla="val 8000"/>
            </a:avLst>
          </a:prstGeom>
          <a:solidFill>
            <a:srgbClr val="B44D3C"/>
          </a:solidFill>
          <a:ln>
            <a:solidFill>
              <a:srgbClr val="B44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1" y="1933956"/>
            <a:ext cx="3163824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academy · 顶部导航书院分栏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1" y="2295144"/>
            <a:ext cx="3273552" cy="3346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cademy-bo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8264" y="2962656"/>
            <a:ext cx="3218688" cy="20116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416551" y="5687568"/>
            <a:ext cx="3163824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263746"/>
                </a:solidFill>
                <a:latin typeface="Microsoft YaHei"/>
              </a:rPr>
              <a:t>顶部横向导航 + 居中纸张内容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1719072"/>
            <a:ext cx="3511296" cy="44439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65592" y="1901952"/>
            <a:ext cx="3163824" cy="274320"/>
          </a:xfrm>
          <a:prstGeom prst="roundRect">
            <a:avLst>
              <a:gd name="adj" fmla="val 8000"/>
            </a:avLst>
          </a:prstGeom>
          <a:solidFill>
            <a:srgbClr val="8B7CFF"/>
          </a:solidFill>
          <a:ln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5592" y="1933956"/>
            <a:ext cx="3163824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command · 窄轨道数字指挥舱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9872" y="2295144"/>
            <a:ext cx="3273552" cy="3346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ommand-boo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7304" y="2909011"/>
            <a:ext cx="3218688" cy="211896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165592" y="5687568"/>
            <a:ext cx="3163824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263746"/>
                </a:solidFill>
                <a:latin typeface="Microsoft YaHei"/>
              </a:rPr>
              <a:t>窄图标轨道 + 网格面板 + 悬浮工具栏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944" y="6272784"/>
            <a:ext cx="10789920" cy="274320"/>
          </a:xfrm>
          <a:prstGeom prst="roundRect">
            <a:avLst>
              <a:gd name="adj" fmla="val 8000"/>
            </a:avLst>
          </a:prstGeom>
          <a:solidFill>
            <a:srgbClr val="E6FFFA"/>
          </a:solidFill>
          <a:ln>
            <a:solidFill>
              <a:srgbClr val="E6FF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6318504"/>
            <a:ext cx="1040587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F766E"/>
                </a:solidFill>
                <a:latin typeface="Microsoft YaHei"/>
              </a:rPr>
              <a:t>结论  ·  宽表只在业务表格容器内滚动，页面本身无无意义横向溢出。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6928" y="6473952"/>
            <a:ext cx="11045952" cy="0"/>
          </a:xfrm>
          <a:prstGeom prst="line">
            <a:avLst/>
          </a:prstGeom>
          <a:ln w="10160">
            <a:solidFill>
              <a:srgbClr val="D9E3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85216" y="6528816"/>
            <a:ext cx="5943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6B7C88"/>
                </a:solidFill>
                <a:latin typeface="Microsoft YaHei"/>
              </a:rPr>
              <a:t>图书馆管理系统 · 五项需求变化 · T4 汇报版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8208" y="6528816"/>
            <a:ext cx="822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6B7C88"/>
                </a:solidFill>
                <a:latin typeface="Microsoft YaHe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8"/>
          </a:solidFill>
          <a:ln>
            <a:solidFill>
              <a:srgbClr val="F7F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45720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Microsoft YaHei"/>
              </a:rPr>
              <a:t>12 / FINAL SCREENSHOTS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Microsoft YaHei"/>
              </a:rPr>
              <a:t>User：干净中文数据证明真实页面验收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70432"/>
            <a:ext cx="109728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6B7C88"/>
                </a:solidFill>
                <a:latin typeface="Microsoft YaHei"/>
              </a:rPr>
              <a:t>截图使用临时中文读者按姓名筛选后的真实 User 页面，非静态伪造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19072"/>
            <a:ext cx="3511296" cy="44439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67512" y="1901952"/>
            <a:ext cx="3163824" cy="27432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33956"/>
            <a:ext cx="3163824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atlas · 完整左栏运营台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2295144"/>
            <a:ext cx="3273552" cy="3346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tlas-u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962656"/>
            <a:ext cx="3218688" cy="2011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7512" y="5687568"/>
            <a:ext cx="3163824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263746"/>
                </a:solidFill>
                <a:latin typeface="Microsoft YaHei"/>
              </a:rPr>
              <a:t>高密度左栏 + 顶部状态栏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59" y="1719072"/>
            <a:ext cx="3511296" cy="44439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B44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16551" y="1901952"/>
            <a:ext cx="3163824" cy="274320"/>
          </a:xfrm>
          <a:prstGeom prst="roundRect">
            <a:avLst>
              <a:gd name="adj" fmla="val 8000"/>
            </a:avLst>
          </a:prstGeom>
          <a:solidFill>
            <a:srgbClr val="B44D3C"/>
          </a:solidFill>
          <a:ln>
            <a:solidFill>
              <a:srgbClr val="B44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1" y="1933956"/>
            <a:ext cx="3163824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academy · 顶部导航书院分栏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1" y="2295144"/>
            <a:ext cx="3273552" cy="3346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cademy-us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8264" y="2932480"/>
            <a:ext cx="3218688" cy="207203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416551" y="5687568"/>
            <a:ext cx="3163824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263746"/>
                </a:solidFill>
                <a:latin typeface="Microsoft YaHei"/>
              </a:rPr>
              <a:t>顶部横向导航 + 居中纸张内容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1719072"/>
            <a:ext cx="3511296" cy="44439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65592" y="1901952"/>
            <a:ext cx="3163824" cy="274320"/>
          </a:xfrm>
          <a:prstGeom prst="roundRect">
            <a:avLst>
              <a:gd name="adj" fmla="val 8000"/>
            </a:avLst>
          </a:prstGeom>
          <a:solidFill>
            <a:srgbClr val="8B7CFF"/>
          </a:solidFill>
          <a:ln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5592" y="1933956"/>
            <a:ext cx="3163824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command · 窄轨道数字指挥舱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9872" y="2295144"/>
            <a:ext cx="3273552" cy="3346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ommand-us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7304" y="2947009"/>
            <a:ext cx="3218688" cy="204297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165592" y="5687568"/>
            <a:ext cx="3163824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263746"/>
                </a:solidFill>
                <a:latin typeface="Microsoft YaHei"/>
              </a:rPr>
              <a:t>窄图标轨道 + 网格面板 + 悬浮工具栏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944" y="6272784"/>
            <a:ext cx="10789920" cy="274320"/>
          </a:xfrm>
          <a:prstGeom prst="roundRect">
            <a:avLst>
              <a:gd name="adj" fmla="val 8000"/>
            </a:avLst>
          </a:prstGeom>
          <a:solidFill>
            <a:srgbClr val="E6FFFA"/>
          </a:solidFill>
          <a:ln>
            <a:solidFill>
              <a:srgbClr val="E6FF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6318504"/>
            <a:ext cx="1040587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F766E"/>
                </a:solidFill>
                <a:latin typeface="Microsoft YaHei"/>
              </a:rPr>
              <a:t>结论  ·  三套布局都只显示一条中文读者记录，历史乱码与 verify_reader 数据不进入交付证据。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6928" y="6473952"/>
            <a:ext cx="11045952" cy="0"/>
          </a:xfrm>
          <a:prstGeom prst="line">
            <a:avLst/>
          </a:prstGeom>
          <a:ln w="10160">
            <a:solidFill>
              <a:srgbClr val="D9E3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85216" y="6528816"/>
            <a:ext cx="5943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6B7C88"/>
                </a:solidFill>
                <a:latin typeface="Microsoft YaHei"/>
              </a:rPr>
              <a:t>图书馆管理系统 · 五项需求变化 · T4 汇报版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8208" y="6528816"/>
            <a:ext cx="822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6B7C88"/>
                </a:solidFill>
                <a:latin typeface="Microsoft YaHe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72A"/>
          </a:solidFill>
          <a:ln>
            <a:solidFill>
              <a:srgbClr val="0B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7CFF"/>
          </a:solidFill>
          <a:ln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10896"/>
            <a:ext cx="45720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28D7F2"/>
                </a:solidFill>
                <a:latin typeface="Microsoft YaHei"/>
              </a:rPr>
              <a:t>13 / ONE-CLICK BACKEND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icrosoft YaHei"/>
              </a:rPr>
              <a:t>一条命令跑完四组后端黑盒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170432"/>
            <a:ext cx="109728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AABBD0"/>
                </a:solidFill>
                <a:latin typeface="Microsoft YaHei"/>
              </a:rPr>
              <a:t>脚本位置：/home/nianjiu/下载/617/library/demo_backend_verification.sh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4846320" cy="4334256"/>
          </a:xfrm>
          <a:prstGeom prst="roundRect">
            <a:avLst>
              <a:gd name="adj" fmla="val 8000"/>
            </a:avLst>
          </a:prstGeom>
          <a:solidFill>
            <a:srgbClr val="14243E"/>
          </a:solidFill>
          <a:ln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029968"/>
            <a:ext cx="1828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28D7F2"/>
                </a:solidFill>
                <a:latin typeface="Microsoft YaHei"/>
              </a:rPr>
              <a:t>现场命令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" y="2487168"/>
            <a:ext cx="4169663" cy="768096"/>
          </a:xfrm>
          <a:prstGeom prst="roundRect">
            <a:avLst>
              <a:gd name="adj" fmla="val 8000"/>
            </a:avLst>
          </a:prstGeom>
          <a:solidFill>
            <a:srgbClr val="0B172A"/>
          </a:solidFill>
          <a:ln>
            <a:solidFill>
              <a:srgbClr val="3147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724912"/>
            <a:ext cx="37947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</a:rPr>
              <a:t>./demo_backend_verification.sh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675887"/>
            <a:ext cx="39319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D4E1E2"/>
                </a:solidFill>
                <a:latin typeface="Microsoft YaHei"/>
              </a:rPr>
              <a:t>先检查 /dashboard；单项失败继续；末尾汇总真实退出码。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7552" y="4736592"/>
            <a:ext cx="1691640" cy="27432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768596"/>
            <a:ext cx="16916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HTTP API 临时数据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5230368"/>
            <a:ext cx="40416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AABBD0"/>
                </a:solidFill>
                <a:latin typeface="Microsoft YaHei"/>
              </a:rPr>
              <a:t>各 Python 黑盒自行创建并清理临时读者、图书、借阅与历史；编排脚本不直连数据库。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70448" y="1700784"/>
            <a:ext cx="5724144" cy="43342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2048256"/>
            <a:ext cx="27432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Microsoft YaHei"/>
              </a:rPr>
              <a:t>TOTAL PASS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2724912"/>
            <a:ext cx="4901184" cy="475488"/>
          </a:xfrm>
          <a:prstGeom prst="roundRect">
            <a:avLst>
              <a:gd name="adj" fmla="val 8000"/>
            </a:avLst>
          </a:prstGeom>
          <a:solidFill>
            <a:srgbClr val="F8FAFA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2843784"/>
            <a:ext cx="28803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263746"/>
                </a:solidFill>
                <a:latin typeface="Microsoft YaHei"/>
              </a:rPr>
              <a:t>circulation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93808" y="2816352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800" b="1">
                <a:solidFill>
                  <a:srgbClr val="0F766E"/>
                </a:solidFill>
                <a:latin typeface="Microsoft YaHei"/>
              </a:rPr>
              <a:t>6/6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54496" y="3383280"/>
            <a:ext cx="4901184" cy="475488"/>
          </a:xfrm>
          <a:prstGeom prst="roundRect">
            <a:avLst>
              <a:gd name="adj" fmla="val 8000"/>
            </a:avLst>
          </a:prstGeom>
          <a:solidFill>
            <a:srgbClr val="F8FAFA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3502152"/>
            <a:ext cx="28803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263746"/>
                </a:solidFill>
                <a:latin typeface="Microsoft YaHei"/>
              </a:rPr>
              <a:t>inventory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93808" y="3474720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800" b="1">
                <a:solidFill>
                  <a:srgbClr val="C87845"/>
                </a:solidFill>
                <a:latin typeface="Microsoft YaHei"/>
              </a:rPr>
              <a:t>9/9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54496" y="4041648"/>
            <a:ext cx="4901184" cy="475488"/>
          </a:xfrm>
          <a:prstGeom prst="roundRect">
            <a:avLst>
              <a:gd name="adj" fmla="val 8000"/>
            </a:avLst>
          </a:prstGeom>
          <a:solidFill>
            <a:srgbClr val="F8FAFA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5664" y="4160520"/>
            <a:ext cx="28803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263746"/>
                </a:solidFill>
                <a:latin typeface="Microsoft YaHei"/>
              </a:rPr>
              <a:t>overdue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93808" y="4133087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800" b="1">
                <a:solidFill>
                  <a:srgbClr val="C63D3D"/>
                </a:solidFill>
                <a:latin typeface="Microsoft YaHei"/>
              </a:rPr>
              <a:t>6/6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54496" y="4700016"/>
            <a:ext cx="4901184" cy="475488"/>
          </a:xfrm>
          <a:prstGeom prst="roundRect">
            <a:avLst>
              <a:gd name="adj" fmla="val 8000"/>
            </a:avLst>
          </a:prstGeom>
          <a:solidFill>
            <a:srgbClr val="F8FAFA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55664" y="4818888"/>
            <a:ext cx="28803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263746"/>
                </a:solidFill>
                <a:latin typeface="Microsoft YaHei"/>
              </a:rPr>
              <a:t>user management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93808" y="4791456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800" b="1">
                <a:solidFill>
                  <a:srgbClr val="8B7CFF"/>
                </a:solidFill>
                <a:latin typeface="Microsoft YaHei"/>
              </a:rPr>
              <a:t>7/7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54496" y="5577840"/>
            <a:ext cx="4800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766E"/>
                </a:solidFill>
                <a:latin typeface="Microsoft YaHei"/>
              </a:rPr>
              <a:t>默认运行、显式 ADMIN_PASSWORD=123456、失败继续分支均已实测。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66928" y="6473952"/>
            <a:ext cx="11045952" cy="0"/>
          </a:xfrm>
          <a:prstGeom prst="line">
            <a:avLst/>
          </a:prstGeom>
          <a:ln w="10160">
            <a:solidFill>
              <a:srgbClr val="3147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85216" y="6528816"/>
            <a:ext cx="5943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8EA3B8"/>
                </a:solidFill>
                <a:latin typeface="Microsoft YaHei"/>
              </a:rPr>
              <a:t>图书馆管理系统 · 五项需求变化 · T4 汇报版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08208" y="6528816"/>
            <a:ext cx="822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8EA3B8"/>
                </a:solidFill>
                <a:latin typeface="Microsoft YaHe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8"/>
          </a:solidFill>
          <a:ln>
            <a:solidFill>
              <a:srgbClr val="F7F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45720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Microsoft YaHei"/>
              </a:rPr>
              <a:t>14 /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Microsoft YaHei"/>
              </a:rPr>
              <a:t>提交与验收证据：原五项需求 + 第二版视觉增强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70432"/>
            <a:ext cx="109728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6B7C88"/>
                </a:solidFill>
                <a:latin typeface="Microsoft YaHei"/>
              </a:rPr>
              <a:t>aef9188 是最新三风格提交；PPT 本身作为独立 T4 汇报交付物，不再制造提交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00784"/>
            <a:ext cx="6565392" cy="43525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29968"/>
            <a:ext cx="27432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102A43"/>
                </a:solidFill>
                <a:latin typeface="Microsoft YaHei"/>
              </a:rPr>
              <a:t>原五项需求主线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670048"/>
            <a:ext cx="402336" cy="27432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702052"/>
            <a:ext cx="402336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T1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702052"/>
            <a:ext cx="10058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Microsoft YaHei"/>
              </a:rPr>
              <a:t>1745b11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2702052"/>
            <a:ext cx="3977639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263746"/>
                </a:solidFill>
                <a:latin typeface="Microsoft YaHei"/>
              </a:rPr>
              <a:t>后端化借书 / 还书 / 续借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172968"/>
            <a:ext cx="402336" cy="27432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04972"/>
            <a:ext cx="402336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T2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4752" y="3204972"/>
            <a:ext cx="10058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Microsoft YaHei"/>
              </a:rPr>
              <a:t>eca083e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33472" y="3204972"/>
            <a:ext cx="3977639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263746"/>
                </a:solidFill>
                <a:latin typeface="Microsoft YaHei"/>
              </a:rPr>
              <a:t>库存数量与数据库约束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675887"/>
            <a:ext cx="402336" cy="27432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707891"/>
            <a:ext cx="402336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T3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4752" y="3707891"/>
            <a:ext cx="10058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Microsoft YaHei"/>
              </a:rPr>
              <a:t>23401f3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33472" y="3707891"/>
            <a:ext cx="3977639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263746"/>
                </a:solidFill>
                <a:latin typeface="Microsoft YaHei"/>
              </a:rPr>
              <a:t>逾期管理与借阅限制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178808"/>
            <a:ext cx="402336" cy="27432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210812"/>
            <a:ext cx="402336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T4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44752" y="4210812"/>
            <a:ext cx="10058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Microsoft YaHei"/>
              </a:rPr>
              <a:t>322e1ce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33472" y="4210812"/>
            <a:ext cx="3977639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263746"/>
                </a:solidFill>
                <a:latin typeface="Microsoft YaHei"/>
              </a:rPr>
              <a:t>管理员读者新增 / 删除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4681728"/>
            <a:ext cx="402336" cy="27432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713732"/>
            <a:ext cx="402336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T5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" y="4713732"/>
            <a:ext cx="10058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Microsoft YaHei"/>
              </a:rPr>
              <a:t>48c645d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33472" y="4713732"/>
            <a:ext cx="3977639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263746"/>
                </a:solidFill>
                <a:latin typeface="Microsoft YaHei"/>
              </a:rPr>
              <a:t>前端视觉与交互重构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79792" y="1700784"/>
            <a:ext cx="4151376" cy="4352544"/>
          </a:xfrm>
          <a:prstGeom prst="roundRect">
            <a:avLst>
              <a:gd name="adj" fmla="val 8000"/>
            </a:avLst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27264" y="2029968"/>
            <a:ext cx="27432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28D7F2"/>
                </a:solidFill>
                <a:latin typeface="Microsoft YaHei"/>
              </a:rPr>
              <a:t>第二版视觉增强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27264" y="2542032"/>
            <a:ext cx="22860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icrosoft YaHei"/>
              </a:rPr>
              <a:t>aef9188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27264" y="3236976"/>
            <a:ext cx="315468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D4E1E2"/>
                </a:solidFill>
                <a:latin typeface="Microsoft YaHei"/>
              </a:rPr>
              <a:t>增加 atlas / academy / command
主题状态、布局分支、响应式
真实 Chromium 截图与 browser-check.json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27264" y="4800600"/>
            <a:ext cx="1901952" cy="274320"/>
          </a:xfrm>
          <a:prstGeom prst="roundRect">
            <a:avLst>
              <a:gd name="adj" fmla="val 8000"/>
            </a:avLst>
          </a:prstGeom>
          <a:solidFill>
            <a:srgbClr val="8B7CFF"/>
          </a:solidFill>
          <a:ln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27264" y="4832604"/>
            <a:ext cx="190195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14 / 14 页面证据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27264" y="5321808"/>
            <a:ext cx="31272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AABBD0"/>
                </a:solidFill>
                <a:latin typeface="Microsoft YaHei"/>
              </a:rPr>
              <a:t>验收：verify、verify-full、四项黑盒、Playwright、build、Docker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66928" y="6473952"/>
            <a:ext cx="11045952" cy="0"/>
          </a:xfrm>
          <a:prstGeom prst="line">
            <a:avLst/>
          </a:prstGeom>
          <a:ln w="10160">
            <a:solidFill>
              <a:srgbClr val="D9E3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85216" y="6528816"/>
            <a:ext cx="5943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6B7C88"/>
                </a:solidFill>
                <a:latin typeface="Microsoft YaHei"/>
              </a:rPr>
              <a:t>图书馆管理系统 · 五项需求变化 · T4 汇报版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08208" y="6528816"/>
            <a:ext cx="822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6B7C88"/>
                </a:solidFill>
                <a:latin typeface="Microsoft YaHe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8"/>
          </a:solidFill>
          <a:ln>
            <a:solidFill>
              <a:srgbClr val="F7F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45720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Microsoft YaHei"/>
              </a:rPr>
              <a:t>15 /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Microsoft YaHei"/>
              </a:rPr>
              <a:t>验收边界：通过的写清楚，未完成的不包装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70432"/>
            <a:ext cx="109728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6B7C88"/>
                </a:solidFill>
                <a:latin typeface="Microsoft YaHei"/>
              </a:rPr>
              <a:t>答辩时明确哪些是本次证据，哪些仍需负责人后续处理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19072"/>
            <a:ext cx="5413248" cy="4334256"/>
          </a:xfrm>
          <a:prstGeom prst="roundRect">
            <a:avLst>
              <a:gd name="adj" fmla="val 8000"/>
            </a:avLst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1371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28D7F2"/>
                </a:solidFill>
                <a:latin typeface="Microsoft YaHei"/>
              </a:rPr>
              <a:t>已验证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743200"/>
            <a:ext cx="73152" cy="73152"/>
          </a:xfrm>
          <a:prstGeom prst="roundRect">
            <a:avLst>
              <a:gd name="adj" fmla="val 8000"/>
            </a:avLst>
          </a:prstGeom>
          <a:solidFill>
            <a:srgbClr val="28D7F2"/>
          </a:solidFill>
          <a:ln>
            <a:solidFill>
              <a:srgbClr val="28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651760"/>
            <a:ext cx="4215383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D4E1E2"/>
                </a:solidFill>
                <a:latin typeface="Microsoft YaHei"/>
              </a:rPr>
              <a:t>四组 HTTP 黑盒：6/6、9/9、6/6、7/7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364992"/>
            <a:ext cx="73152" cy="73152"/>
          </a:xfrm>
          <a:prstGeom prst="roundRect">
            <a:avLst>
              <a:gd name="adj" fmla="val 8000"/>
            </a:avLst>
          </a:prstGeom>
          <a:solidFill>
            <a:srgbClr val="28D7F2"/>
          </a:solidFill>
          <a:ln>
            <a:solidFill>
              <a:srgbClr val="28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273552"/>
            <a:ext cx="4215383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D4E1E2"/>
                </a:solidFill>
                <a:latin typeface="Microsoft YaHei"/>
              </a:rPr>
              <a:t>三主题真实 Login / Dashboard / Book / User 截图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986783"/>
            <a:ext cx="73152" cy="73152"/>
          </a:xfrm>
          <a:prstGeom prst="roundRect">
            <a:avLst>
              <a:gd name="adj" fmla="val 8000"/>
            </a:avLst>
          </a:prstGeom>
          <a:solidFill>
            <a:srgbClr val="28D7F2"/>
          </a:solidFill>
          <a:ln>
            <a:solidFill>
              <a:srgbClr val="28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3895344"/>
            <a:ext cx="4215383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D4E1E2"/>
                </a:solidFill>
                <a:latin typeface="Microsoft YaHei"/>
              </a:rPr>
              <a:t>主题默认 academy、localStorage、无刷新切换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608575"/>
            <a:ext cx="73152" cy="73152"/>
          </a:xfrm>
          <a:prstGeom prst="roundRect">
            <a:avLst>
              <a:gd name="adj" fmla="val 8000"/>
            </a:avLst>
          </a:prstGeom>
          <a:solidFill>
            <a:srgbClr val="28D7F2"/>
          </a:solidFill>
          <a:ln>
            <a:solidFill>
              <a:srgbClr val="28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4517136"/>
            <a:ext cx="4215383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D4E1E2"/>
                </a:solidFill>
                <a:latin typeface="Microsoft YaHei"/>
              </a:rPr>
              <a:t>前端 build、Docker frontend、全量 verify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19072"/>
            <a:ext cx="5413248" cy="43342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2057400"/>
            <a:ext cx="25603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102A43"/>
                </a:solidFill>
                <a:latin typeface="Microsoft YaHei"/>
              </a:rPr>
              <a:t>明确保留的边界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2743200"/>
            <a:ext cx="73152" cy="73152"/>
          </a:xfrm>
          <a:prstGeom prst="roundRect">
            <a:avLst>
              <a:gd name="adj" fmla="val 8000"/>
            </a:avLst>
          </a:prstGeom>
          <a:solidFill>
            <a:srgbClr val="B44D3C"/>
          </a:solidFill>
          <a:ln>
            <a:solidFill>
              <a:srgbClr val="B44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57416" y="2651760"/>
            <a:ext cx="4215383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263746"/>
                </a:solidFill>
                <a:latin typeface="Microsoft YaHei"/>
              </a:rPr>
              <a:t>普通读者可查看全部读者列表的既有权限 WARN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3364992"/>
            <a:ext cx="73152" cy="73152"/>
          </a:xfrm>
          <a:prstGeom prst="roundRect">
            <a:avLst>
              <a:gd name="adj" fmla="val 8000"/>
            </a:avLst>
          </a:prstGeom>
          <a:solidFill>
            <a:srgbClr val="B44D3C"/>
          </a:solidFill>
          <a:ln>
            <a:solidFill>
              <a:srgbClr val="B44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57416" y="3273552"/>
            <a:ext cx="4215383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263746"/>
                </a:solidFill>
                <a:latin typeface="Microsoft YaHei"/>
              </a:rPr>
              <a:t>未新增统一 token 鉴权拦截器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3986783"/>
            <a:ext cx="73152" cy="73152"/>
          </a:xfrm>
          <a:prstGeom prst="roundRect">
            <a:avLst>
              <a:gd name="adj" fmla="val 8000"/>
            </a:avLst>
          </a:prstGeom>
          <a:solidFill>
            <a:srgbClr val="B44D3C"/>
          </a:solidFill>
          <a:ln>
            <a:solidFill>
              <a:srgbClr val="B44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57416" y="3895344"/>
            <a:ext cx="4215383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263746"/>
                </a:solidFill>
                <a:latin typeface="Microsoft YaHei"/>
              </a:rPr>
              <a:t>PPT 由负责人审查，不在本次任务 commit/push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0" y="4608575"/>
            <a:ext cx="73152" cy="73152"/>
          </a:xfrm>
          <a:prstGeom prst="roundRect">
            <a:avLst>
              <a:gd name="adj" fmla="val 8000"/>
            </a:avLst>
          </a:prstGeom>
          <a:solidFill>
            <a:srgbClr val="B44D3C"/>
          </a:solidFill>
          <a:ln>
            <a:solidFill>
              <a:srgbClr val="B44D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57416" y="4517136"/>
            <a:ext cx="4215383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263746"/>
                </a:solidFill>
                <a:latin typeface="Microsoft YaHei"/>
              </a:rPr>
              <a:t>不把未执行的人工写操作包装成已完成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6928" y="6473952"/>
            <a:ext cx="11045952" cy="0"/>
          </a:xfrm>
          <a:prstGeom prst="line">
            <a:avLst/>
          </a:prstGeom>
          <a:ln w="10160">
            <a:solidFill>
              <a:srgbClr val="D9E3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85216" y="6528816"/>
            <a:ext cx="5943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6B7C88"/>
                </a:solidFill>
                <a:latin typeface="Microsoft YaHei"/>
              </a:rPr>
              <a:t>图书馆管理系统 · 五项需求变化 · T4 汇报版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8208" y="6528816"/>
            <a:ext cx="822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6B7C88"/>
                </a:solidFill>
                <a:latin typeface="Microsoft YaHe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72A"/>
          </a:solidFill>
          <a:ln>
            <a:solidFill>
              <a:srgbClr val="0B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7CFF"/>
          </a:solidFill>
          <a:ln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10896"/>
            <a:ext cx="45720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28D7F2"/>
                </a:solidFill>
                <a:latin typeface="Microsoft YaHei"/>
              </a:rPr>
              <a:t>16 / 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icrosoft YaHei"/>
              </a:rPr>
              <a:t>结论：五项需求形成一条可追踪证据链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170432"/>
            <a:ext cx="109728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AABBD0"/>
                </a:solidFill>
                <a:latin typeface="Microsoft YaHei"/>
              </a:rPr>
              <a:t>从后端规则、数据一致性到三套视觉框架，最终交付可运行、可演示、可复查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5303520" cy="4261104"/>
          </a:xfrm>
          <a:prstGeom prst="roundRect">
            <a:avLst>
              <a:gd name="adj" fmla="val 8000"/>
            </a:avLst>
          </a:prstGeom>
          <a:solidFill>
            <a:srgbClr val="14243E"/>
          </a:solidFill>
          <a:ln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1828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28D7F2"/>
                </a:solidFill>
                <a:latin typeface="Microsoft YaHei"/>
              </a:rPr>
              <a:t>答辩结论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2743200" cy="1508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icrosoft YaHei"/>
              </a:rPr>
              <a:t>规则落后端
数据可核对
页面可切换
验收可复现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5010912"/>
            <a:ext cx="1572768" cy="274320"/>
          </a:xfrm>
          <a:prstGeom prst="roundRect">
            <a:avLst>
              <a:gd name="adj" fmla="val 8000"/>
            </a:avLst>
          </a:prstGeom>
          <a:solidFill>
            <a:srgbClr val="8B7CFF"/>
          </a:solidFill>
          <a:ln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42916"/>
            <a:ext cx="15727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TOTAL PASS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2784" y="1755648"/>
            <a:ext cx="5266944" cy="4261104"/>
          </a:xfrm>
          <a:prstGeom prst="roundRect">
            <a:avLst>
              <a:gd name="adj" fmla="val 8000"/>
            </a:avLst>
          </a:prstGeom>
          <a:solidFill>
            <a:srgbClr val="14243E"/>
          </a:solidFill>
          <a:ln>
            <a:solidFill>
              <a:srgbClr val="8B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0256" y="2103120"/>
            <a:ext cx="1371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F4B187"/>
                </a:solidFill>
                <a:latin typeface="Microsoft YaHei"/>
              </a:rPr>
              <a:t>下一步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0256" y="2852928"/>
            <a:ext cx="73152" cy="73152"/>
          </a:xfrm>
          <a:prstGeom prst="roundRect">
            <a:avLst>
              <a:gd name="adj" fmla="val 8000"/>
            </a:avLst>
          </a:prstGeom>
          <a:solidFill>
            <a:srgbClr val="C87845"/>
          </a:solidFill>
          <a:ln>
            <a:solidFill>
              <a:srgbClr val="C878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93992" y="2761488"/>
            <a:ext cx="4050791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D4E1E2"/>
                </a:solidFill>
                <a:latin typeface="Microsoft YaHei"/>
              </a:rPr>
              <a:t>负责人审查最终 PPT 与 12 张真实截图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20256" y="3538728"/>
            <a:ext cx="73152" cy="73152"/>
          </a:xfrm>
          <a:prstGeom prst="roundRect">
            <a:avLst>
              <a:gd name="adj" fmla="val 8000"/>
            </a:avLst>
          </a:prstGeom>
          <a:solidFill>
            <a:srgbClr val="C87845"/>
          </a:solidFill>
          <a:ln>
            <a:solidFill>
              <a:srgbClr val="C878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93992" y="3447288"/>
            <a:ext cx="4050791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D4E1E2"/>
                </a:solidFill>
                <a:latin typeface="Microsoft YaHei"/>
              </a:rPr>
              <a:t>如需现场演示，执行 ./demo_backend_verification.sh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20256" y="4224527"/>
            <a:ext cx="73152" cy="73152"/>
          </a:xfrm>
          <a:prstGeom prst="roundRect">
            <a:avLst>
              <a:gd name="adj" fmla="val 8000"/>
            </a:avLst>
          </a:prstGeom>
          <a:solidFill>
            <a:srgbClr val="C87845"/>
          </a:solidFill>
          <a:ln>
            <a:solidFill>
              <a:srgbClr val="C878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93992" y="4133087"/>
            <a:ext cx="4050791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D4E1E2"/>
                </a:solidFill>
                <a:latin typeface="Microsoft YaHei"/>
              </a:rPr>
              <a:t>保留既有权限 WARN 边界，不扩大本次范围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0256" y="5029200"/>
            <a:ext cx="402336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Microsoft YaHei"/>
              </a:rPr>
              <a:t>谢谢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6928" y="6473952"/>
            <a:ext cx="11045952" cy="0"/>
          </a:xfrm>
          <a:prstGeom prst="line">
            <a:avLst/>
          </a:prstGeom>
          <a:ln w="10160">
            <a:solidFill>
              <a:srgbClr val="3147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85216" y="6528816"/>
            <a:ext cx="5943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>
                <a:solidFill>
                  <a:srgbClr val="8EA3B8"/>
                </a:solidFill>
                <a:latin typeface="Microsoft YaHei"/>
              </a:rPr>
              <a:t>图书馆管理系统 · 五项需求变化 · T4 汇报版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8208" y="6528816"/>
            <a:ext cx="822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8EA3B8"/>
                </a:solidFill>
                <a:latin typeface="Microsoft YaHei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